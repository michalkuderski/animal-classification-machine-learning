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omments/comment2.xml" ContentType="application/vnd.openxmlformats-officedocument.presentationml.comment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0" r:id="rId7"/>
    <p:sldId id="261" r:id="rId8"/>
    <p:sldId id="267" r:id="rId9"/>
    <p:sldId id="262" r:id="rId10"/>
    <p:sldId id="268" r:id="rId11"/>
    <p:sldId id="275" r:id="rId12"/>
    <p:sldId id="274" r:id="rId13"/>
    <p:sldId id="273" r:id="rId14"/>
    <p:sldId id="271" r:id="rId15"/>
    <p:sldId id="270" r:id="rId16"/>
    <p:sldId id="272" r:id="rId17"/>
    <p:sldId id="269" r:id="rId18"/>
    <p:sldId id="263" r:id="rId19"/>
    <p:sldId id="264" r:id="rId20"/>
    <p:sldId id="277" r:id="rId21"/>
    <p:sldId id="278" r:id="rId22"/>
    <p:sldId id="280" r:id="rId23"/>
    <p:sldId id="279" r:id="rId24"/>
    <p:sldId id="284" r:id="rId25"/>
    <p:sldId id="281" r:id="rId26"/>
    <p:sldId id="285" r:id="rId27"/>
    <p:sldId id="265" r:id="rId28"/>
    <p:sldId id="266" r:id="rId29"/>
    <p:sldId id="25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Xia" initials="MX" lastIdx="4" clrIdx="0">
    <p:extLst>
      <p:ext uri="{19B8F6BF-5375-455C-9EA6-DF929625EA0E}">
        <p15:presenceInfo xmlns:p15="http://schemas.microsoft.com/office/powerpoint/2012/main" userId="Michelle X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B7C8C8-D88C-B451-B698-7373D1903067}" v="1018" dt="2025-05-05T02:00:09.598"/>
    <p1510:client id="{37897327-5775-A13A-4CA9-CA183CE4784E}" v="448" dt="2025-05-05T04:10:12.028"/>
    <p1510:client id="{3D911F0B-4313-0E8C-DCCB-D4F50E070A4A}" v="3725" dt="2025-05-05T03:42:23.876"/>
    <p1510:client id="{D2741287-8829-AAF9-A91F-90224C0BD5DC}" v="40" dt="2025-05-04T20:42:48.3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6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05T15:26:01.342" idx="1">
    <p:pos x="5590" y="2409"/>
    <p:text>Total: 19.5/20. Overall, wonderful job with the analysis and presentation! Real nice figures for visualization and interesting results from the analysis.</p:text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05T15:29:28.456" idx="4">
    <p:pos x="7685" y="760"/>
    <p:text>The standard error of certain predictors like feathers seem to be very large, which is due to the fact that the fitted probability is indicated to be 1 if the animal has feathers. But it is expected for the approach.</p:text>
    <p:extLst>
      <p:ext uri="{C676402C-5697-4E1C-873F-D02D1690AC5C}">
        <p15:threadingInfo xmlns:p15="http://schemas.microsoft.com/office/powerpoint/2012/main" timeZoneBias="300"/>
      </p:ext>
    </p:extLst>
  </p:cm>
</p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image" Target="../media/image5.png"/><Relationship Id="rId4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13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12" Type="http://schemas.openxmlformats.org/officeDocument/2006/relationships/image" Target="../media/image52.svg"/><Relationship Id="rId2" Type="http://schemas.openxmlformats.org/officeDocument/2006/relationships/image" Target="../media/image42.svg"/><Relationship Id="rId16" Type="http://schemas.openxmlformats.org/officeDocument/2006/relationships/image" Target="../media/image56.svg"/><Relationship Id="rId1" Type="http://schemas.openxmlformats.org/officeDocument/2006/relationships/image" Target="../media/image33.png"/><Relationship Id="rId6" Type="http://schemas.openxmlformats.org/officeDocument/2006/relationships/image" Target="../media/image46.svg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5" Type="http://schemas.openxmlformats.org/officeDocument/2006/relationships/image" Target="../media/image40.png"/><Relationship Id="rId10" Type="http://schemas.openxmlformats.org/officeDocument/2006/relationships/image" Target="../media/image50.svg"/><Relationship Id="rId4" Type="http://schemas.openxmlformats.org/officeDocument/2006/relationships/image" Target="../media/image44.svg"/><Relationship Id="rId9" Type="http://schemas.openxmlformats.org/officeDocument/2006/relationships/image" Target="../media/image37.png"/><Relationship Id="rId14" Type="http://schemas.openxmlformats.org/officeDocument/2006/relationships/image" Target="../media/image5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image" Target="../media/image5.pn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13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12" Type="http://schemas.openxmlformats.org/officeDocument/2006/relationships/image" Target="../media/image52.svg"/><Relationship Id="rId2" Type="http://schemas.openxmlformats.org/officeDocument/2006/relationships/image" Target="../media/image42.svg"/><Relationship Id="rId16" Type="http://schemas.openxmlformats.org/officeDocument/2006/relationships/image" Target="../media/image56.svg"/><Relationship Id="rId1" Type="http://schemas.openxmlformats.org/officeDocument/2006/relationships/image" Target="../media/image33.png"/><Relationship Id="rId6" Type="http://schemas.openxmlformats.org/officeDocument/2006/relationships/image" Target="../media/image46.svg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5" Type="http://schemas.openxmlformats.org/officeDocument/2006/relationships/image" Target="../media/image40.png"/><Relationship Id="rId10" Type="http://schemas.openxmlformats.org/officeDocument/2006/relationships/image" Target="../media/image50.svg"/><Relationship Id="rId4" Type="http://schemas.openxmlformats.org/officeDocument/2006/relationships/image" Target="../media/image44.svg"/><Relationship Id="rId9" Type="http://schemas.openxmlformats.org/officeDocument/2006/relationships/image" Target="../media/image37.png"/><Relationship Id="rId14" Type="http://schemas.openxmlformats.org/officeDocument/2006/relationships/image" Target="../media/image5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CE61A8-3AEC-4F3D-9FE1-366E52BB77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15C27FE-D2F6-4314-9A68-20995A6195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/>
              <a:cs typeface="Quire Sans"/>
            </a:rPr>
            <a:t> The objective of this exploratory analysis is to:</a:t>
          </a:r>
        </a:p>
      </dgm:t>
    </dgm:pt>
    <dgm:pt modelId="{4EDBE193-E3B5-4789-9111-8D537FA33549}" type="parTrans" cxnId="{5809C840-07D1-45E9-BE5A-57CD30E90985}">
      <dgm:prSet/>
      <dgm:spPr/>
      <dgm:t>
        <a:bodyPr/>
        <a:lstStyle/>
        <a:p>
          <a:endParaRPr lang="en-US"/>
        </a:p>
      </dgm:t>
    </dgm:pt>
    <dgm:pt modelId="{97CB6209-0395-4E35-90CC-ADAC4FBE104E}" type="sibTrans" cxnId="{5809C840-07D1-45E9-BE5A-57CD30E90985}">
      <dgm:prSet/>
      <dgm:spPr/>
      <dgm:t>
        <a:bodyPr/>
        <a:lstStyle/>
        <a:p>
          <a:endParaRPr lang="en-US"/>
        </a:p>
      </dgm:t>
    </dgm:pt>
    <dgm:pt modelId="{C06AEE40-BB91-4D9B-B208-9D3FD03E35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/>
              <a:cs typeface="Quire Sans"/>
            </a:rPr>
            <a:t> Can we determine an animal's classification (mammal, bird, reptile, etc.) based on its physical characteristics and behavioral traits?</a:t>
          </a:r>
        </a:p>
      </dgm:t>
    </dgm:pt>
    <dgm:pt modelId="{CE1D11EE-91F7-4B03-BFA3-AB8ED1D4101A}" type="parTrans" cxnId="{B27D0B0B-AE43-4C48-9291-D1B5A8D7AA85}">
      <dgm:prSet/>
      <dgm:spPr/>
      <dgm:t>
        <a:bodyPr/>
        <a:lstStyle/>
        <a:p>
          <a:endParaRPr lang="en-US"/>
        </a:p>
      </dgm:t>
    </dgm:pt>
    <dgm:pt modelId="{16744DC5-2D3A-4DDE-B96F-B9F7F20031DE}" type="sibTrans" cxnId="{B27D0B0B-AE43-4C48-9291-D1B5A8D7AA85}">
      <dgm:prSet/>
      <dgm:spPr/>
      <dgm:t>
        <a:bodyPr/>
        <a:lstStyle/>
        <a:p>
          <a:endParaRPr lang="en-US"/>
        </a:p>
      </dgm:t>
    </dgm:pt>
    <dgm:pt modelId="{78EAA4C1-4FAC-47D5-980B-123E972536F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/>
              <a:cs typeface="Quire Sans"/>
            </a:rPr>
            <a:t> Identify patterns in the data that may help us better understand our multinomial logistic regression model</a:t>
          </a:r>
          <a:endParaRPr lang="en-US"/>
        </a:p>
      </dgm:t>
    </dgm:pt>
    <dgm:pt modelId="{3A38B371-A1AB-4BAA-A263-C492E4C98004}" type="parTrans" cxnId="{A2FBEC94-FAB5-43CC-87C4-6554AD380970}">
      <dgm:prSet/>
      <dgm:spPr/>
    </dgm:pt>
    <dgm:pt modelId="{0CDEF4DE-D452-4386-AF8F-9DE4747DA92F}" type="sibTrans" cxnId="{A2FBEC94-FAB5-43CC-87C4-6554AD380970}">
      <dgm:prSet/>
      <dgm:spPr/>
      <dgm:t>
        <a:bodyPr/>
        <a:lstStyle/>
        <a:p>
          <a:endParaRPr lang="en-US"/>
        </a:p>
      </dgm:t>
    </dgm:pt>
    <dgm:pt modelId="{F5056C33-16B5-41C4-9EF8-A5FB2825DC38}" type="pres">
      <dgm:prSet presAssocID="{71CE61A8-3AEC-4F3D-9FE1-366E52BB771C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7E53A20-0030-4274-9063-A528D554C665}" type="pres">
      <dgm:prSet presAssocID="{115C27FE-D2F6-4314-9A68-20995A619551}" presName="compNode" presStyleCnt="0"/>
      <dgm:spPr/>
    </dgm:pt>
    <dgm:pt modelId="{9C187375-25ED-44A9-95DB-28EB9658C4F0}" type="pres">
      <dgm:prSet presAssocID="{115C27FE-D2F6-4314-9A68-20995A619551}" presName="bgRect" presStyleLbl="bgShp" presStyleIdx="0" presStyleCnt="3"/>
      <dgm:spPr/>
    </dgm:pt>
    <dgm:pt modelId="{D8694475-F49E-4C01-B6C7-F5831FB2D595}" type="pres">
      <dgm:prSet presAssocID="{115C27FE-D2F6-4314-9A68-20995A619551}" presName="iconRect" presStyleLbl="nod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849BD9F-CE5C-4F8D-81F6-879BF02A735D}" type="pres">
      <dgm:prSet presAssocID="{115C27FE-D2F6-4314-9A68-20995A619551}" presName="spaceRect" presStyleCnt="0"/>
      <dgm:spPr/>
    </dgm:pt>
    <dgm:pt modelId="{7CE2AFDE-DB47-40C6-9D6B-DCD21C83999D}" type="pres">
      <dgm:prSet presAssocID="{115C27FE-D2F6-4314-9A68-20995A619551}" presName="parTx" presStyleLbl="revTx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547482DC-AE22-472C-92EA-40EF88BD543F}" type="pres">
      <dgm:prSet presAssocID="{97CB6209-0395-4E35-90CC-ADAC4FBE104E}" presName="sibTrans" presStyleCnt="0"/>
      <dgm:spPr/>
    </dgm:pt>
    <dgm:pt modelId="{1CDA72FB-5312-420A-9E8D-BFB47EEFD69C}" type="pres">
      <dgm:prSet presAssocID="{78EAA4C1-4FAC-47D5-980B-123E972536F9}" presName="compNode" presStyleCnt="0"/>
      <dgm:spPr/>
    </dgm:pt>
    <dgm:pt modelId="{DA500F2A-0DD8-4754-BE33-321349DAC3EC}" type="pres">
      <dgm:prSet presAssocID="{78EAA4C1-4FAC-47D5-980B-123E972536F9}" presName="bgRect" presStyleLbl="bgShp" presStyleIdx="1" presStyleCnt="3"/>
      <dgm:spPr/>
    </dgm:pt>
    <dgm:pt modelId="{C639823D-4859-4BE8-8A8E-5EF09BA2F89A}" type="pres">
      <dgm:prSet presAssocID="{78EAA4C1-4FAC-47D5-980B-123E972536F9}" presName="iconRect" presStyleLbl="node1" presStyleIdx="1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Lion"/>
        </a:ext>
      </dgm:extLst>
    </dgm:pt>
    <dgm:pt modelId="{5DDC732C-6F25-4622-9100-7F9398E7196B}" type="pres">
      <dgm:prSet presAssocID="{78EAA4C1-4FAC-47D5-980B-123E972536F9}" presName="spaceRect" presStyleCnt="0"/>
      <dgm:spPr/>
    </dgm:pt>
    <dgm:pt modelId="{091FA0EA-F676-481F-8D19-8FB599CFB4B9}" type="pres">
      <dgm:prSet presAssocID="{78EAA4C1-4FAC-47D5-980B-123E972536F9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FB6BDC9-D89E-4094-BBD1-8F1DE8A4853E}" type="pres">
      <dgm:prSet presAssocID="{0CDEF4DE-D452-4386-AF8F-9DE4747DA92F}" presName="sibTrans" presStyleCnt="0"/>
      <dgm:spPr/>
    </dgm:pt>
    <dgm:pt modelId="{966FD2D0-C121-4E0F-B9ED-1836C6A85D2B}" type="pres">
      <dgm:prSet presAssocID="{C06AEE40-BB91-4D9B-B208-9D3FD03E35A6}" presName="compNode" presStyleCnt="0"/>
      <dgm:spPr/>
    </dgm:pt>
    <dgm:pt modelId="{1A4C6F5D-ABB2-465F-9A55-BFB566B555EC}" type="pres">
      <dgm:prSet presAssocID="{C06AEE40-BB91-4D9B-B208-9D3FD03E35A6}" presName="bgRect" presStyleLbl="bgShp" presStyleIdx="2" presStyleCnt="3"/>
      <dgm:spPr/>
    </dgm:pt>
    <dgm:pt modelId="{39751877-DC79-4CC7-9E27-C34C9C49EC84}" type="pres">
      <dgm:prSet presAssocID="{C06AEE40-BB91-4D9B-B208-9D3FD03E35A6}" presName="iconRect" presStyleLbl="node1" presStyleIdx="2" presStyleCnt="3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235D775-EBEC-4EA5-A790-2670FA3BF571}" type="pres">
      <dgm:prSet presAssocID="{C06AEE40-BB91-4D9B-B208-9D3FD03E35A6}" presName="spaceRect" presStyleCnt="0"/>
      <dgm:spPr/>
    </dgm:pt>
    <dgm:pt modelId="{BC84A6EC-28E3-44A6-BAD6-075C3D0B0E26}" type="pres">
      <dgm:prSet presAssocID="{C06AEE40-BB91-4D9B-B208-9D3FD03E35A6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B27D0B0B-AE43-4C48-9291-D1B5A8D7AA85}" srcId="{71CE61A8-3AEC-4F3D-9FE1-366E52BB771C}" destId="{C06AEE40-BB91-4D9B-B208-9D3FD03E35A6}" srcOrd="2" destOrd="0" parTransId="{CE1D11EE-91F7-4B03-BFA3-AB8ED1D4101A}" sibTransId="{16744DC5-2D3A-4DDE-B96F-B9F7F20031DE}"/>
    <dgm:cxn modelId="{3D702F3D-152D-47FC-AA4F-C49286F1C49B}" type="presOf" srcId="{115C27FE-D2F6-4314-9A68-20995A619551}" destId="{7CE2AFDE-DB47-40C6-9D6B-DCD21C83999D}" srcOrd="0" destOrd="0" presId="urn:microsoft.com/office/officeart/2018/2/layout/IconVerticalSolidList"/>
    <dgm:cxn modelId="{A13799E3-485E-4F3E-9294-303F2C92BC9F}" type="presOf" srcId="{78EAA4C1-4FAC-47D5-980B-123E972536F9}" destId="{091FA0EA-F676-481F-8D19-8FB599CFB4B9}" srcOrd="0" destOrd="0" presId="urn:microsoft.com/office/officeart/2018/2/layout/IconVerticalSolidList"/>
    <dgm:cxn modelId="{941E4288-F852-4AE0-A747-B1EC1B1E961A}" type="presOf" srcId="{C06AEE40-BB91-4D9B-B208-9D3FD03E35A6}" destId="{BC84A6EC-28E3-44A6-BAD6-075C3D0B0E26}" srcOrd="0" destOrd="0" presId="urn:microsoft.com/office/officeart/2018/2/layout/IconVerticalSolidList"/>
    <dgm:cxn modelId="{C5D8CBBD-90F4-47AC-8C25-AF2F22BE97F0}" type="presOf" srcId="{71CE61A8-3AEC-4F3D-9FE1-366E52BB771C}" destId="{F5056C33-16B5-41C4-9EF8-A5FB2825DC38}" srcOrd="0" destOrd="0" presId="urn:microsoft.com/office/officeart/2018/2/layout/IconVerticalSolidList"/>
    <dgm:cxn modelId="{5809C840-07D1-45E9-BE5A-57CD30E90985}" srcId="{71CE61A8-3AEC-4F3D-9FE1-366E52BB771C}" destId="{115C27FE-D2F6-4314-9A68-20995A619551}" srcOrd="0" destOrd="0" parTransId="{4EDBE193-E3B5-4789-9111-8D537FA33549}" sibTransId="{97CB6209-0395-4E35-90CC-ADAC4FBE104E}"/>
    <dgm:cxn modelId="{A2FBEC94-FAB5-43CC-87C4-6554AD380970}" srcId="{71CE61A8-3AEC-4F3D-9FE1-366E52BB771C}" destId="{78EAA4C1-4FAC-47D5-980B-123E972536F9}" srcOrd="1" destOrd="0" parTransId="{3A38B371-A1AB-4BAA-A263-C492E4C98004}" sibTransId="{0CDEF4DE-D452-4386-AF8F-9DE4747DA92F}"/>
    <dgm:cxn modelId="{C86F3451-1258-4816-8DF3-7DC7A01FEB9E}" type="presParOf" srcId="{F5056C33-16B5-41C4-9EF8-A5FB2825DC38}" destId="{67E53A20-0030-4274-9063-A528D554C665}" srcOrd="0" destOrd="0" presId="urn:microsoft.com/office/officeart/2018/2/layout/IconVerticalSolidList"/>
    <dgm:cxn modelId="{400940C4-6D46-4A29-90D0-505938C248A2}" type="presParOf" srcId="{67E53A20-0030-4274-9063-A528D554C665}" destId="{9C187375-25ED-44A9-95DB-28EB9658C4F0}" srcOrd="0" destOrd="0" presId="urn:microsoft.com/office/officeart/2018/2/layout/IconVerticalSolidList"/>
    <dgm:cxn modelId="{AA457B93-4D5A-49EA-8599-A701A4119439}" type="presParOf" srcId="{67E53A20-0030-4274-9063-A528D554C665}" destId="{D8694475-F49E-4C01-B6C7-F5831FB2D595}" srcOrd="1" destOrd="0" presId="urn:microsoft.com/office/officeart/2018/2/layout/IconVerticalSolidList"/>
    <dgm:cxn modelId="{E7419B27-F4C6-4908-8200-A3DE0C3E4F2C}" type="presParOf" srcId="{67E53A20-0030-4274-9063-A528D554C665}" destId="{7849BD9F-CE5C-4F8D-81F6-879BF02A735D}" srcOrd="2" destOrd="0" presId="urn:microsoft.com/office/officeart/2018/2/layout/IconVerticalSolidList"/>
    <dgm:cxn modelId="{B75529A7-AD65-4AE0-8AE2-D910702BBFD3}" type="presParOf" srcId="{67E53A20-0030-4274-9063-A528D554C665}" destId="{7CE2AFDE-DB47-40C6-9D6B-DCD21C83999D}" srcOrd="3" destOrd="0" presId="urn:microsoft.com/office/officeart/2018/2/layout/IconVerticalSolidList"/>
    <dgm:cxn modelId="{D6B2B875-F8DF-47DC-94C8-A90B25273A7B}" type="presParOf" srcId="{F5056C33-16B5-41C4-9EF8-A5FB2825DC38}" destId="{547482DC-AE22-472C-92EA-40EF88BD543F}" srcOrd="1" destOrd="0" presId="urn:microsoft.com/office/officeart/2018/2/layout/IconVerticalSolidList"/>
    <dgm:cxn modelId="{F6E1035D-8D59-4B9E-9E3C-4C3248B8E678}" type="presParOf" srcId="{F5056C33-16B5-41C4-9EF8-A5FB2825DC38}" destId="{1CDA72FB-5312-420A-9E8D-BFB47EEFD69C}" srcOrd="2" destOrd="0" presId="urn:microsoft.com/office/officeart/2018/2/layout/IconVerticalSolidList"/>
    <dgm:cxn modelId="{0F2EFDEC-8012-4E48-B369-242020CEC475}" type="presParOf" srcId="{1CDA72FB-5312-420A-9E8D-BFB47EEFD69C}" destId="{DA500F2A-0DD8-4754-BE33-321349DAC3EC}" srcOrd="0" destOrd="0" presId="urn:microsoft.com/office/officeart/2018/2/layout/IconVerticalSolidList"/>
    <dgm:cxn modelId="{3879CFC3-FAE1-493F-A621-FFF74354BCEF}" type="presParOf" srcId="{1CDA72FB-5312-420A-9E8D-BFB47EEFD69C}" destId="{C639823D-4859-4BE8-8A8E-5EF09BA2F89A}" srcOrd="1" destOrd="0" presId="urn:microsoft.com/office/officeart/2018/2/layout/IconVerticalSolidList"/>
    <dgm:cxn modelId="{BA2FEC3E-5579-41F8-B650-6E14A1B0F913}" type="presParOf" srcId="{1CDA72FB-5312-420A-9E8D-BFB47EEFD69C}" destId="{5DDC732C-6F25-4622-9100-7F9398E7196B}" srcOrd="2" destOrd="0" presId="urn:microsoft.com/office/officeart/2018/2/layout/IconVerticalSolidList"/>
    <dgm:cxn modelId="{61983853-8D1F-47D5-A2BA-473A21207BCC}" type="presParOf" srcId="{1CDA72FB-5312-420A-9E8D-BFB47EEFD69C}" destId="{091FA0EA-F676-481F-8D19-8FB599CFB4B9}" srcOrd="3" destOrd="0" presId="urn:microsoft.com/office/officeart/2018/2/layout/IconVerticalSolidList"/>
    <dgm:cxn modelId="{6AAB5347-133D-45DC-9E7F-1CB6E86D145F}" type="presParOf" srcId="{F5056C33-16B5-41C4-9EF8-A5FB2825DC38}" destId="{FFB6BDC9-D89E-4094-BBD1-8F1DE8A4853E}" srcOrd="3" destOrd="0" presId="urn:microsoft.com/office/officeart/2018/2/layout/IconVerticalSolidList"/>
    <dgm:cxn modelId="{6764D65D-2DAF-48FA-9846-C4A5E398CD54}" type="presParOf" srcId="{F5056C33-16B5-41C4-9EF8-A5FB2825DC38}" destId="{966FD2D0-C121-4E0F-B9ED-1836C6A85D2B}" srcOrd="4" destOrd="0" presId="urn:microsoft.com/office/officeart/2018/2/layout/IconVerticalSolidList"/>
    <dgm:cxn modelId="{6B47026F-230A-41BE-AD59-A0FDCA7477EF}" type="presParOf" srcId="{966FD2D0-C121-4E0F-B9ED-1836C6A85D2B}" destId="{1A4C6F5D-ABB2-465F-9A55-BFB566B555EC}" srcOrd="0" destOrd="0" presId="urn:microsoft.com/office/officeart/2018/2/layout/IconVerticalSolidList"/>
    <dgm:cxn modelId="{39043A53-EFD1-4838-940C-81C7AEB4CA0E}" type="presParOf" srcId="{966FD2D0-C121-4E0F-B9ED-1836C6A85D2B}" destId="{39751877-DC79-4CC7-9E27-C34C9C49EC84}" srcOrd="1" destOrd="0" presId="urn:microsoft.com/office/officeart/2018/2/layout/IconVerticalSolidList"/>
    <dgm:cxn modelId="{5A844A00-A40E-4E47-B0CE-233106FECDE1}" type="presParOf" srcId="{966FD2D0-C121-4E0F-B9ED-1836C6A85D2B}" destId="{E235D775-EBEC-4EA5-A790-2670FA3BF571}" srcOrd="2" destOrd="0" presId="urn:microsoft.com/office/officeart/2018/2/layout/IconVerticalSolidList"/>
    <dgm:cxn modelId="{67FF4570-541E-47CA-AC35-99BA26878B51}" type="presParOf" srcId="{966FD2D0-C121-4E0F-B9ED-1836C6A85D2B}" destId="{BC84A6EC-28E3-44A6-BAD6-075C3D0B0E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4CAEE4-E90E-4A24-B051-E9F5ACF9562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241703E-1862-4F12-AE66-4F5861E12993}">
      <dgm:prSet/>
      <dgm:spPr/>
      <dgm:t>
        <a:bodyPr/>
        <a:lstStyle/>
        <a:p>
          <a:pPr>
            <a:defRPr b="1"/>
          </a:pPr>
          <a:r>
            <a:rPr lang="en-US" b="1"/>
            <a:t>Dataset Overview:</a:t>
          </a:r>
          <a:endParaRPr lang="en-US"/>
        </a:p>
      </dgm:t>
    </dgm:pt>
    <dgm:pt modelId="{040B1E6B-A8C2-4B0E-9CB0-3D570E8C7149}" type="parTrans" cxnId="{681C1615-50FD-4596-B0AF-865F9F5609E5}">
      <dgm:prSet/>
      <dgm:spPr/>
      <dgm:t>
        <a:bodyPr/>
        <a:lstStyle/>
        <a:p>
          <a:endParaRPr lang="en-US"/>
        </a:p>
      </dgm:t>
    </dgm:pt>
    <dgm:pt modelId="{292315DA-C725-452F-A4E8-ECA3A3748553}" type="sibTrans" cxnId="{681C1615-50FD-4596-B0AF-865F9F5609E5}">
      <dgm:prSet/>
      <dgm:spPr/>
      <dgm:t>
        <a:bodyPr/>
        <a:lstStyle/>
        <a:p>
          <a:endParaRPr lang="en-US"/>
        </a:p>
      </dgm:t>
    </dgm:pt>
    <dgm:pt modelId="{E0BCD02B-BECF-4353-93A1-8CC4C0C6D72C}">
      <dgm:prSet/>
      <dgm:spPr/>
      <dgm:t>
        <a:bodyPr/>
        <a:lstStyle/>
        <a:p>
          <a:r>
            <a:rPr lang="en-US"/>
            <a:t>101 animals</a:t>
          </a:r>
        </a:p>
      </dgm:t>
    </dgm:pt>
    <dgm:pt modelId="{C9EB9FE9-AB83-4F0F-8C1A-8B362FACEF13}" type="parTrans" cxnId="{F6054F7F-9D20-4DF4-BEC8-5C28D74044B1}">
      <dgm:prSet/>
      <dgm:spPr/>
      <dgm:t>
        <a:bodyPr/>
        <a:lstStyle/>
        <a:p>
          <a:endParaRPr lang="en-US"/>
        </a:p>
      </dgm:t>
    </dgm:pt>
    <dgm:pt modelId="{27A6E6DB-1EC1-4AA2-9376-DDBC064F8B1A}" type="sibTrans" cxnId="{F6054F7F-9D20-4DF4-BEC8-5C28D74044B1}">
      <dgm:prSet/>
      <dgm:spPr/>
      <dgm:t>
        <a:bodyPr/>
        <a:lstStyle/>
        <a:p>
          <a:endParaRPr lang="en-US"/>
        </a:p>
      </dgm:t>
    </dgm:pt>
    <dgm:pt modelId="{641F0940-2B21-4EA0-9FCE-998533E2C78C}">
      <dgm:prSet/>
      <dgm:spPr/>
      <dgm:t>
        <a:bodyPr/>
        <a:lstStyle/>
        <a:p>
          <a:r>
            <a:rPr lang="en-US"/>
            <a:t>16 predictors (mostly binary, one numeric)</a:t>
          </a:r>
        </a:p>
      </dgm:t>
    </dgm:pt>
    <dgm:pt modelId="{A395D96C-1382-41C7-9755-025EEDC20F52}" type="parTrans" cxnId="{53C5A5F2-72EB-42B0-939C-8F8494700E21}">
      <dgm:prSet/>
      <dgm:spPr/>
      <dgm:t>
        <a:bodyPr/>
        <a:lstStyle/>
        <a:p>
          <a:endParaRPr lang="en-US"/>
        </a:p>
      </dgm:t>
    </dgm:pt>
    <dgm:pt modelId="{22F9B280-2BF3-4CC0-908E-66ACE8322693}" type="sibTrans" cxnId="{53C5A5F2-72EB-42B0-939C-8F8494700E21}">
      <dgm:prSet/>
      <dgm:spPr/>
      <dgm:t>
        <a:bodyPr/>
        <a:lstStyle/>
        <a:p>
          <a:endParaRPr lang="en-US"/>
        </a:p>
      </dgm:t>
    </dgm:pt>
    <dgm:pt modelId="{99E70154-6E7A-453A-9E71-8A4AB8BC604C}">
      <dgm:prSet/>
      <dgm:spPr/>
      <dgm:t>
        <a:bodyPr/>
        <a:lstStyle/>
        <a:p>
          <a:r>
            <a:rPr lang="en-US"/>
            <a:t>Response variable: </a:t>
          </a:r>
          <a:r>
            <a:rPr lang="en-US" b="1" err="1"/>
            <a:t>class_type</a:t>
          </a:r>
          <a:r>
            <a:rPr lang="en-US"/>
            <a:t> (7 categories)</a:t>
          </a:r>
        </a:p>
      </dgm:t>
    </dgm:pt>
    <dgm:pt modelId="{F35FDC9C-99A8-420A-991D-0830265A6E04}" type="parTrans" cxnId="{38FC4F5D-20BE-4FE1-BBB4-75405A4F3F24}">
      <dgm:prSet/>
      <dgm:spPr/>
      <dgm:t>
        <a:bodyPr/>
        <a:lstStyle/>
        <a:p>
          <a:endParaRPr lang="en-US"/>
        </a:p>
      </dgm:t>
    </dgm:pt>
    <dgm:pt modelId="{944BC165-A308-498F-91AA-2A08FF0344BE}" type="sibTrans" cxnId="{38FC4F5D-20BE-4FE1-BBB4-75405A4F3F24}">
      <dgm:prSet/>
      <dgm:spPr/>
      <dgm:t>
        <a:bodyPr/>
        <a:lstStyle/>
        <a:p>
          <a:endParaRPr lang="en-US"/>
        </a:p>
      </dgm:t>
    </dgm:pt>
    <dgm:pt modelId="{469DF923-CD5A-4458-BB60-5F69BBA86F57}">
      <dgm:prSet/>
      <dgm:spPr/>
      <dgm:t>
        <a:bodyPr/>
        <a:lstStyle/>
        <a:p>
          <a:pPr>
            <a:defRPr b="1"/>
          </a:pPr>
          <a:r>
            <a:rPr lang="en-US" b="1"/>
            <a:t>Important Notes:</a:t>
          </a:r>
          <a:endParaRPr lang="en-US"/>
        </a:p>
      </dgm:t>
    </dgm:pt>
    <dgm:pt modelId="{65189FFB-0245-4481-B5D8-18CE2CF2DB16}" type="parTrans" cxnId="{C687EB0D-8940-4F13-B691-25FFDEF4706F}">
      <dgm:prSet/>
      <dgm:spPr/>
      <dgm:t>
        <a:bodyPr/>
        <a:lstStyle/>
        <a:p>
          <a:endParaRPr lang="en-US"/>
        </a:p>
      </dgm:t>
    </dgm:pt>
    <dgm:pt modelId="{3EF5DB34-3BA6-434C-B0F2-879935BFFE6B}" type="sibTrans" cxnId="{C687EB0D-8940-4F13-B691-25FFDEF4706F}">
      <dgm:prSet/>
      <dgm:spPr/>
      <dgm:t>
        <a:bodyPr/>
        <a:lstStyle/>
        <a:p>
          <a:endParaRPr lang="en-US"/>
        </a:p>
      </dgm:t>
    </dgm:pt>
    <dgm:pt modelId="{CB2D9959-1CE7-4778-AC9E-4D76DF8F2B84}">
      <dgm:prSet/>
      <dgm:spPr/>
      <dgm:t>
        <a:bodyPr/>
        <a:lstStyle/>
        <a:p>
          <a:r>
            <a:rPr lang="en-US"/>
            <a:t>Most predictors are binary (e.g., </a:t>
          </a:r>
          <a:r>
            <a:rPr lang="en-US" b="1"/>
            <a:t>hair</a:t>
          </a:r>
          <a:r>
            <a:rPr lang="en-US"/>
            <a:t>, </a:t>
          </a:r>
          <a:r>
            <a:rPr lang="en-US" b="1"/>
            <a:t>feathers</a:t>
          </a:r>
          <a:r>
            <a:rPr lang="en-US"/>
            <a:t>, </a:t>
          </a:r>
          <a:r>
            <a:rPr lang="en-US" b="1"/>
            <a:t>eggs</a:t>
          </a:r>
          <a:r>
            <a:rPr lang="en-US"/>
            <a:t>).</a:t>
          </a:r>
        </a:p>
      </dgm:t>
    </dgm:pt>
    <dgm:pt modelId="{952B271A-E641-43D7-B92A-2261BF23B8EE}" type="parTrans" cxnId="{E2AEFBC0-055D-490B-BA19-D81E14EA0AA8}">
      <dgm:prSet/>
      <dgm:spPr/>
      <dgm:t>
        <a:bodyPr/>
        <a:lstStyle/>
        <a:p>
          <a:endParaRPr lang="en-US"/>
        </a:p>
      </dgm:t>
    </dgm:pt>
    <dgm:pt modelId="{B154DA32-DAE7-41F5-A34B-5F7F17736EE6}" type="sibTrans" cxnId="{E2AEFBC0-055D-490B-BA19-D81E14EA0AA8}">
      <dgm:prSet/>
      <dgm:spPr/>
      <dgm:t>
        <a:bodyPr/>
        <a:lstStyle/>
        <a:p>
          <a:endParaRPr lang="en-US"/>
        </a:p>
      </dgm:t>
    </dgm:pt>
    <dgm:pt modelId="{0B03402C-DEDC-4410-9CA8-06FBA69CBBA9}">
      <dgm:prSet/>
      <dgm:spPr/>
      <dgm:t>
        <a:bodyPr/>
        <a:lstStyle/>
        <a:p>
          <a:pPr rtl="0"/>
          <a:r>
            <a:rPr lang="en-US" b="1"/>
            <a:t>Legs </a:t>
          </a:r>
          <a:r>
            <a:rPr lang="en-US"/>
            <a:t>is </a:t>
          </a:r>
          <a:r>
            <a:rPr lang="en-US">
              <a:latin typeface="Aptos Display" panose="020F0302020204030204"/>
            </a:rPr>
            <a:t>the only numeric predictor</a:t>
          </a:r>
          <a:endParaRPr lang="en-US"/>
        </a:p>
      </dgm:t>
    </dgm:pt>
    <dgm:pt modelId="{71A0A77C-C6F4-456A-80CD-23CDC907A2DD}" type="parTrans" cxnId="{50467F89-2AB8-44CE-95BA-0EAD58B68BAA}">
      <dgm:prSet/>
      <dgm:spPr/>
      <dgm:t>
        <a:bodyPr/>
        <a:lstStyle/>
        <a:p>
          <a:endParaRPr lang="en-US"/>
        </a:p>
      </dgm:t>
    </dgm:pt>
    <dgm:pt modelId="{9A7FB473-82FD-4EEA-93B2-74F7CAA4E45A}" type="sibTrans" cxnId="{50467F89-2AB8-44CE-95BA-0EAD58B68BAA}">
      <dgm:prSet/>
      <dgm:spPr/>
      <dgm:t>
        <a:bodyPr/>
        <a:lstStyle/>
        <a:p>
          <a:endParaRPr lang="en-US"/>
        </a:p>
      </dgm:t>
    </dgm:pt>
    <dgm:pt modelId="{4836F285-6880-4FC0-8B9D-BB05D4527094}">
      <dgm:prSet/>
      <dgm:spPr/>
      <dgm:t>
        <a:bodyPr/>
        <a:lstStyle/>
        <a:p>
          <a:r>
            <a:rPr lang="en-US"/>
            <a:t>Class imbalance present (</a:t>
          </a:r>
          <a:r>
            <a:rPr lang="en-US" b="1"/>
            <a:t>Mammals </a:t>
          </a:r>
          <a:r>
            <a:rPr lang="en-US"/>
            <a:t>most frequent).</a:t>
          </a:r>
        </a:p>
      </dgm:t>
    </dgm:pt>
    <dgm:pt modelId="{3A2400F1-87B3-4D3F-AF83-32D356E745C9}" type="parTrans" cxnId="{DCF72462-F509-46EF-A2CD-CADA30AF2794}">
      <dgm:prSet/>
      <dgm:spPr/>
      <dgm:t>
        <a:bodyPr/>
        <a:lstStyle/>
        <a:p>
          <a:endParaRPr lang="en-US"/>
        </a:p>
      </dgm:t>
    </dgm:pt>
    <dgm:pt modelId="{27C192F3-7DDA-49E8-8B1C-23AABACA9980}" type="sibTrans" cxnId="{DCF72462-F509-46EF-A2CD-CADA30AF2794}">
      <dgm:prSet/>
      <dgm:spPr/>
      <dgm:t>
        <a:bodyPr/>
        <a:lstStyle/>
        <a:p>
          <a:endParaRPr lang="en-US"/>
        </a:p>
      </dgm:t>
    </dgm:pt>
    <dgm:pt modelId="{94E2D4A3-037E-4CF2-AAC5-7861A1FDB4B2}" type="pres">
      <dgm:prSet presAssocID="{3E4CAEE4-E90E-4A24-B051-E9F5ACF9562C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11177E8-2704-40F5-A20B-170C5F522083}" type="pres">
      <dgm:prSet presAssocID="{8241703E-1862-4F12-AE66-4F5861E12993}" presName="compNode" presStyleCnt="0"/>
      <dgm:spPr/>
    </dgm:pt>
    <dgm:pt modelId="{C1DD90A5-9BC9-4A6C-8DEF-B4E566F1257E}" type="pres">
      <dgm:prSet presAssocID="{8241703E-1862-4F12-AE66-4F5861E12993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CF0C0C0-4BCD-47A2-BD0A-1442FFE41695}" type="pres">
      <dgm:prSet presAssocID="{8241703E-1862-4F12-AE66-4F5861E12993}" presName="iconSpace" presStyleCnt="0"/>
      <dgm:spPr/>
    </dgm:pt>
    <dgm:pt modelId="{0658D62B-9854-4939-B1AD-D221AC372CDF}" type="pres">
      <dgm:prSet presAssocID="{8241703E-1862-4F12-AE66-4F5861E12993}" presName="parTx" presStyleLbl="revTx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118C32EB-C438-45C6-AB34-C4BA7B99BBFA}" type="pres">
      <dgm:prSet presAssocID="{8241703E-1862-4F12-AE66-4F5861E12993}" presName="txSpace" presStyleCnt="0"/>
      <dgm:spPr/>
    </dgm:pt>
    <dgm:pt modelId="{225816D3-CC2B-47B3-9289-C56E0747F6AB}" type="pres">
      <dgm:prSet presAssocID="{8241703E-1862-4F12-AE66-4F5861E12993}" presName="desTx" presStyleLbl="revTx" presStyleIdx="1" presStyleCnt="4">
        <dgm:presLayoutVars/>
      </dgm:prSet>
      <dgm:spPr/>
      <dgm:t>
        <a:bodyPr/>
        <a:lstStyle/>
        <a:p>
          <a:endParaRPr lang="en-US"/>
        </a:p>
      </dgm:t>
    </dgm:pt>
    <dgm:pt modelId="{4F456E36-1A6E-4805-AEB5-2319C8F08871}" type="pres">
      <dgm:prSet presAssocID="{292315DA-C725-452F-A4E8-ECA3A3748553}" presName="sibTrans" presStyleCnt="0"/>
      <dgm:spPr/>
    </dgm:pt>
    <dgm:pt modelId="{89AF183A-7F70-42CF-832A-5F3A464CFF91}" type="pres">
      <dgm:prSet presAssocID="{469DF923-CD5A-4458-BB60-5F69BBA86F57}" presName="compNode" presStyleCnt="0"/>
      <dgm:spPr/>
    </dgm:pt>
    <dgm:pt modelId="{34BB9276-3464-47D9-9335-62C9613FD45D}" type="pres">
      <dgm:prSet presAssocID="{469DF923-CD5A-4458-BB60-5F69BBA86F5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Peacock"/>
        </a:ext>
      </dgm:extLst>
    </dgm:pt>
    <dgm:pt modelId="{0655B102-DFDA-4E2E-A9B2-07776D433882}" type="pres">
      <dgm:prSet presAssocID="{469DF923-CD5A-4458-BB60-5F69BBA86F57}" presName="iconSpace" presStyleCnt="0"/>
      <dgm:spPr/>
    </dgm:pt>
    <dgm:pt modelId="{14E94FC8-3E05-4703-A897-B774B3968C32}" type="pres">
      <dgm:prSet presAssocID="{469DF923-CD5A-4458-BB60-5F69BBA86F57}" presName="parTx" presStyleLbl="revTx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2892A35-0893-4202-947C-7E604A5E9FC8}" type="pres">
      <dgm:prSet presAssocID="{469DF923-CD5A-4458-BB60-5F69BBA86F57}" presName="txSpace" presStyleCnt="0"/>
      <dgm:spPr/>
    </dgm:pt>
    <dgm:pt modelId="{3A3F16E2-6383-42CA-9727-59E5502F71B4}" type="pres">
      <dgm:prSet presAssocID="{469DF923-CD5A-4458-BB60-5F69BBA86F57}" presName="desTx" presStyleLbl="revTx" presStyleIdx="3" presStyleCnt="4">
        <dgm:presLayoutVars/>
      </dgm:prSet>
      <dgm:spPr/>
      <dgm:t>
        <a:bodyPr/>
        <a:lstStyle/>
        <a:p>
          <a:endParaRPr lang="en-US"/>
        </a:p>
      </dgm:t>
    </dgm:pt>
  </dgm:ptLst>
  <dgm:cxnLst>
    <dgm:cxn modelId="{4904EF0F-2F30-47D9-B144-8AA745E15D46}" type="presOf" srcId="{4836F285-6880-4FC0-8B9D-BB05D4527094}" destId="{3A3F16E2-6383-42CA-9727-59E5502F71B4}" srcOrd="0" destOrd="2" presId="urn:microsoft.com/office/officeart/2018/2/layout/IconLabelDescriptionList"/>
    <dgm:cxn modelId="{C687EB0D-8940-4F13-B691-25FFDEF4706F}" srcId="{3E4CAEE4-E90E-4A24-B051-E9F5ACF9562C}" destId="{469DF923-CD5A-4458-BB60-5F69BBA86F57}" srcOrd="1" destOrd="0" parTransId="{65189FFB-0245-4481-B5D8-18CE2CF2DB16}" sibTransId="{3EF5DB34-3BA6-434C-B0F2-879935BFFE6B}"/>
    <dgm:cxn modelId="{545EB18C-CC69-4A6A-87BA-E41034AC31D5}" type="presOf" srcId="{0B03402C-DEDC-4410-9CA8-06FBA69CBBA9}" destId="{3A3F16E2-6383-42CA-9727-59E5502F71B4}" srcOrd="0" destOrd="1" presId="urn:microsoft.com/office/officeart/2018/2/layout/IconLabelDescriptionList"/>
    <dgm:cxn modelId="{FF43E75E-8EA4-444E-9CE3-A5F604538BA9}" type="presOf" srcId="{99E70154-6E7A-453A-9E71-8A4AB8BC604C}" destId="{225816D3-CC2B-47B3-9289-C56E0747F6AB}" srcOrd="0" destOrd="2" presId="urn:microsoft.com/office/officeart/2018/2/layout/IconLabelDescriptionList"/>
    <dgm:cxn modelId="{65B11976-E905-4D91-B2C7-118FA3E9F9E7}" type="presOf" srcId="{3E4CAEE4-E90E-4A24-B051-E9F5ACF9562C}" destId="{94E2D4A3-037E-4CF2-AAC5-7861A1FDB4B2}" srcOrd="0" destOrd="0" presId="urn:microsoft.com/office/officeart/2018/2/layout/IconLabelDescriptionList"/>
    <dgm:cxn modelId="{BED2A7FF-E4E5-4602-8B2E-19DA62F082EE}" type="presOf" srcId="{469DF923-CD5A-4458-BB60-5F69BBA86F57}" destId="{14E94FC8-3E05-4703-A897-B774B3968C32}" srcOrd="0" destOrd="0" presId="urn:microsoft.com/office/officeart/2018/2/layout/IconLabelDescriptionList"/>
    <dgm:cxn modelId="{A113A637-47D5-407B-B583-8C59C64742B4}" type="presOf" srcId="{CB2D9959-1CE7-4778-AC9E-4D76DF8F2B84}" destId="{3A3F16E2-6383-42CA-9727-59E5502F71B4}" srcOrd="0" destOrd="0" presId="urn:microsoft.com/office/officeart/2018/2/layout/IconLabelDescriptionList"/>
    <dgm:cxn modelId="{38FC4F5D-20BE-4FE1-BBB4-75405A4F3F24}" srcId="{8241703E-1862-4F12-AE66-4F5861E12993}" destId="{99E70154-6E7A-453A-9E71-8A4AB8BC604C}" srcOrd="2" destOrd="0" parTransId="{F35FDC9C-99A8-420A-991D-0830265A6E04}" sibTransId="{944BC165-A308-498F-91AA-2A08FF0344BE}"/>
    <dgm:cxn modelId="{9DB021AB-00D5-4DCB-9012-C03955DD8995}" type="presOf" srcId="{E0BCD02B-BECF-4353-93A1-8CC4C0C6D72C}" destId="{225816D3-CC2B-47B3-9289-C56E0747F6AB}" srcOrd="0" destOrd="0" presId="urn:microsoft.com/office/officeart/2018/2/layout/IconLabelDescriptionList"/>
    <dgm:cxn modelId="{DCF72462-F509-46EF-A2CD-CADA30AF2794}" srcId="{469DF923-CD5A-4458-BB60-5F69BBA86F57}" destId="{4836F285-6880-4FC0-8B9D-BB05D4527094}" srcOrd="2" destOrd="0" parTransId="{3A2400F1-87B3-4D3F-AF83-32D356E745C9}" sibTransId="{27C192F3-7DDA-49E8-8B1C-23AABACA9980}"/>
    <dgm:cxn modelId="{681C1615-50FD-4596-B0AF-865F9F5609E5}" srcId="{3E4CAEE4-E90E-4A24-B051-E9F5ACF9562C}" destId="{8241703E-1862-4F12-AE66-4F5861E12993}" srcOrd="0" destOrd="0" parTransId="{040B1E6B-A8C2-4B0E-9CB0-3D570E8C7149}" sibTransId="{292315DA-C725-452F-A4E8-ECA3A3748553}"/>
    <dgm:cxn modelId="{53C5A5F2-72EB-42B0-939C-8F8494700E21}" srcId="{8241703E-1862-4F12-AE66-4F5861E12993}" destId="{641F0940-2B21-4EA0-9FCE-998533E2C78C}" srcOrd="1" destOrd="0" parTransId="{A395D96C-1382-41C7-9755-025EEDC20F52}" sibTransId="{22F9B280-2BF3-4CC0-908E-66ACE8322693}"/>
    <dgm:cxn modelId="{50467F89-2AB8-44CE-95BA-0EAD58B68BAA}" srcId="{469DF923-CD5A-4458-BB60-5F69BBA86F57}" destId="{0B03402C-DEDC-4410-9CA8-06FBA69CBBA9}" srcOrd="1" destOrd="0" parTransId="{71A0A77C-C6F4-456A-80CD-23CDC907A2DD}" sibTransId="{9A7FB473-82FD-4EEA-93B2-74F7CAA4E45A}"/>
    <dgm:cxn modelId="{503E76ED-A701-479C-BE0A-914E7FEC09DB}" type="presOf" srcId="{8241703E-1862-4F12-AE66-4F5861E12993}" destId="{0658D62B-9854-4939-B1AD-D221AC372CDF}" srcOrd="0" destOrd="0" presId="urn:microsoft.com/office/officeart/2018/2/layout/IconLabelDescriptionList"/>
    <dgm:cxn modelId="{E2AEFBC0-055D-490B-BA19-D81E14EA0AA8}" srcId="{469DF923-CD5A-4458-BB60-5F69BBA86F57}" destId="{CB2D9959-1CE7-4778-AC9E-4D76DF8F2B84}" srcOrd="0" destOrd="0" parTransId="{952B271A-E641-43D7-B92A-2261BF23B8EE}" sibTransId="{B154DA32-DAE7-41F5-A34B-5F7F17736EE6}"/>
    <dgm:cxn modelId="{1C6AD890-7ED2-460B-873C-DCEECBEBBB1B}" type="presOf" srcId="{641F0940-2B21-4EA0-9FCE-998533E2C78C}" destId="{225816D3-CC2B-47B3-9289-C56E0747F6AB}" srcOrd="0" destOrd="1" presId="urn:microsoft.com/office/officeart/2018/2/layout/IconLabelDescriptionList"/>
    <dgm:cxn modelId="{F6054F7F-9D20-4DF4-BEC8-5C28D74044B1}" srcId="{8241703E-1862-4F12-AE66-4F5861E12993}" destId="{E0BCD02B-BECF-4353-93A1-8CC4C0C6D72C}" srcOrd="0" destOrd="0" parTransId="{C9EB9FE9-AB83-4F0F-8C1A-8B362FACEF13}" sibTransId="{27A6E6DB-1EC1-4AA2-9376-DDBC064F8B1A}"/>
    <dgm:cxn modelId="{049F2EE8-7A7C-4216-BF0A-DB634FDBD03E}" type="presParOf" srcId="{94E2D4A3-037E-4CF2-AAC5-7861A1FDB4B2}" destId="{811177E8-2704-40F5-A20B-170C5F522083}" srcOrd="0" destOrd="0" presId="urn:microsoft.com/office/officeart/2018/2/layout/IconLabelDescriptionList"/>
    <dgm:cxn modelId="{BC5B9731-EE6B-4948-A27A-D645F2270309}" type="presParOf" srcId="{811177E8-2704-40F5-A20B-170C5F522083}" destId="{C1DD90A5-9BC9-4A6C-8DEF-B4E566F1257E}" srcOrd="0" destOrd="0" presId="urn:microsoft.com/office/officeart/2018/2/layout/IconLabelDescriptionList"/>
    <dgm:cxn modelId="{2B3E9D71-3B8B-4716-B89F-CDB7F8BF8523}" type="presParOf" srcId="{811177E8-2704-40F5-A20B-170C5F522083}" destId="{DCF0C0C0-4BCD-47A2-BD0A-1442FFE41695}" srcOrd="1" destOrd="0" presId="urn:microsoft.com/office/officeart/2018/2/layout/IconLabelDescriptionList"/>
    <dgm:cxn modelId="{21C5A46B-3203-4C39-91B2-2C7B3FFE34D4}" type="presParOf" srcId="{811177E8-2704-40F5-A20B-170C5F522083}" destId="{0658D62B-9854-4939-B1AD-D221AC372CDF}" srcOrd="2" destOrd="0" presId="urn:microsoft.com/office/officeart/2018/2/layout/IconLabelDescriptionList"/>
    <dgm:cxn modelId="{4987A680-309C-4FE1-A948-977A4AEAFE22}" type="presParOf" srcId="{811177E8-2704-40F5-A20B-170C5F522083}" destId="{118C32EB-C438-45C6-AB34-C4BA7B99BBFA}" srcOrd="3" destOrd="0" presId="urn:microsoft.com/office/officeart/2018/2/layout/IconLabelDescriptionList"/>
    <dgm:cxn modelId="{AEABD9DE-79FF-418D-9F07-A468F2B4D526}" type="presParOf" srcId="{811177E8-2704-40F5-A20B-170C5F522083}" destId="{225816D3-CC2B-47B3-9289-C56E0747F6AB}" srcOrd="4" destOrd="0" presId="urn:microsoft.com/office/officeart/2018/2/layout/IconLabelDescriptionList"/>
    <dgm:cxn modelId="{F8A78D77-93F9-45D7-9EDF-C0772EACB54C}" type="presParOf" srcId="{94E2D4A3-037E-4CF2-AAC5-7861A1FDB4B2}" destId="{4F456E36-1A6E-4805-AEB5-2319C8F08871}" srcOrd="1" destOrd="0" presId="urn:microsoft.com/office/officeart/2018/2/layout/IconLabelDescriptionList"/>
    <dgm:cxn modelId="{6B8BA2F6-2287-474C-88DE-D153E49B7F4A}" type="presParOf" srcId="{94E2D4A3-037E-4CF2-AAC5-7861A1FDB4B2}" destId="{89AF183A-7F70-42CF-832A-5F3A464CFF91}" srcOrd="2" destOrd="0" presId="urn:microsoft.com/office/officeart/2018/2/layout/IconLabelDescriptionList"/>
    <dgm:cxn modelId="{A04E021A-493B-476D-94B3-B84482CA1082}" type="presParOf" srcId="{89AF183A-7F70-42CF-832A-5F3A464CFF91}" destId="{34BB9276-3464-47D9-9335-62C9613FD45D}" srcOrd="0" destOrd="0" presId="urn:microsoft.com/office/officeart/2018/2/layout/IconLabelDescriptionList"/>
    <dgm:cxn modelId="{FA3CEC1C-C54F-421B-9B59-ACD4334D7AC9}" type="presParOf" srcId="{89AF183A-7F70-42CF-832A-5F3A464CFF91}" destId="{0655B102-DFDA-4E2E-A9B2-07776D433882}" srcOrd="1" destOrd="0" presId="urn:microsoft.com/office/officeart/2018/2/layout/IconLabelDescriptionList"/>
    <dgm:cxn modelId="{288F6CC5-4B2D-4748-89B7-0CC5E9DFB233}" type="presParOf" srcId="{89AF183A-7F70-42CF-832A-5F3A464CFF91}" destId="{14E94FC8-3E05-4703-A897-B774B3968C32}" srcOrd="2" destOrd="0" presId="urn:microsoft.com/office/officeart/2018/2/layout/IconLabelDescriptionList"/>
    <dgm:cxn modelId="{08516A7F-7504-4A75-A80F-1BF56AF79609}" type="presParOf" srcId="{89AF183A-7F70-42CF-832A-5F3A464CFF91}" destId="{C2892A35-0893-4202-947C-7E604A5E9FC8}" srcOrd="3" destOrd="0" presId="urn:microsoft.com/office/officeart/2018/2/layout/IconLabelDescriptionList"/>
    <dgm:cxn modelId="{06410AA7-39E2-48CC-8768-D95FA6CFCD2B}" type="presParOf" srcId="{89AF183A-7F70-42CF-832A-5F3A464CFF91}" destId="{3A3F16E2-6383-42CA-9727-59E5502F71B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8DE063-CD5F-4EA3-A4D6-BCA1EE2EACC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B878A00-1409-4DCE-BBD5-EA2BE236242F}">
      <dgm:prSet/>
      <dgm:spPr/>
      <dgm:t>
        <a:bodyPr/>
        <a:lstStyle/>
        <a:p>
          <a:r>
            <a:rPr lang="en-US" b="1"/>
            <a:t>Model:</a:t>
          </a:r>
          <a:endParaRPr lang="en-US"/>
        </a:p>
      </dgm:t>
    </dgm:pt>
    <dgm:pt modelId="{5EC1449D-0F5E-4921-B95F-2C4AB0C72655}" type="parTrans" cxnId="{65E22349-903C-4A1D-BE30-590DAC4EBEE2}">
      <dgm:prSet/>
      <dgm:spPr/>
      <dgm:t>
        <a:bodyPr/>
        <a:lstStyle/>
        <a:p>
          <a:endParaRPr lang="en-US"/>
        </a:p>
      </dgm:t>
    </dgm:pt>
    <dgm:pt modelId="{5E02C622-F714-4D7F-8EA7-C148D8192449}" type="sibTrans" cxnId="{65E22349-903C-4A1D-BE30-590DAC4EBEE2}">
      <dgm:prSet/>
      <dgm:spPr/>
      <dgm:t>
        <a:bodyPr/>
        <a:lstStyle/>
        <a:p>
          <a:endParaRPr lang="en-US"/>
        </a:p>
      </dgm:t>
    </dgm:pt>
    <dgm:pt modelId="{45EFD8E3-288C-457B-A850-AFD16BA72D85}">
      <dgm:prSet/>
      <dgm:spPr/>
      <dgm:t>
        <a:bodyPr/>
        <a:lstStyle/>
        <a:p>
          <a:pPr rtl="0"/>
          <a:r>
            <a:rPr lang="en-US"/>
            <a:t>Predict </a:t>
          </a:r>
          <a:r>
            <a:rPr lang="en-US" b="1" err="1"/>
            <a:t>class_type</a:t>
          </a:r>
          <a:r>
            <a:rPr lang="en-US"/>
            <a:t> using selected predictors</a:t>
          </a:r>
        </a:p>
      </dgm:t>
    </dgm:pt>
    <dgm:pt modelId="{A59BB332-9146-423F-AF14-CE5F7E236FF2}" type="parTrans" cxnId="{DB5ADEAA-04E4-4B1C-B248-A26B6A27134F}">
      <dgm:prSet/>
      <dgm:spPr/>
      <dgm:t>
        <a:bodyPr/>
        <a:lstStyle/>
        <a:p>
          <a:endParaRPr lang="en-US"/>
        </a:p>
      </dgm:t>
    </dgm:pt>
    <dgm:pt modelId="{872CB95C-A224-4BF7-96E7-D3D78FEE39FD}" type="sibTrans" cxnId="{DB5ADEAA-04E4-4B1C-B248-A26B6A27134F}">
      <dgm:prSet/>
      <dgm:spPr/>
      <dgm:t>
        <a:bodyPr/>
        <a:lstStyle/>
        <a:p>
          <a:endParaRPr lang="en-US"/>
        </a:p>
      </dgm:t>
    </dgm:pt>
    <dgm:pt modelId="{D9E3D402-91FA-43B9-9B2D-2AF5845EEAFF}">
      <dgm:prSet/>
      <dgm:spPr/>
      <dgm:t>
        <a:bodyPr/>
        <a:lstStyle/>
        <a:p>
          <a:r>
            <a:rPr lang="en-US" b="1"/>
            <a:t>Interpretation:</a:t>
          </a:r>
          <a:endParaRPr lang="en-US"/>
        </a:p>
      </dgm:t>
    </dgm:pt>
    <dgm:pt modelId="{DB406F48-8EE7-415E-AEB3-560AC673F02D}" type="parTrans" cxnId="{4D7144F3-8136-41B1-A6D9-39FF651EB750}">
      <dgm:prSet/>
      <dgm:spPr/>
      <dgm:t>
        <a:bodyPr/>
        <a:lstStyle/>
        <a:p>
          <a:endParaRPr lang="en-US"/>
        </a:p>
      </dgm:t>
    </dgm:pt>
    <dgm:pt modelId="{C93F273E-5C9E-4741-B7BD-1E0C879C4DD8}" type="sibTrans" cxnId="{4D7144F3-8136-41B1-A6D9-39FF651EB750}">
      <dgm:prSet/>
      <dgm:spPr/>
      <dgm:t>
        <a:bodyPr/>
        <a:lstStyle/>
        <a:p>
          <a:endParaRPr lang="en-US"/>
        </a:p>
      </dgm:t>
    </dgm:pt>
    <dgm:pt modelId="{56A3C2BC-2892-46E5-9AF4-541679F6A238}">
      <dgm:prSet/>
      <dgm:spPr/>
      <dgm:t>
        <a:bodyPr/>
        <a:lstStyle/>
        <a:p>
          <a:r>
            <a:rPr lang="en-US"/>
            <a:t>Coefficients show association between traits and class membership</a:t>
          </a:r>
        </a:p>
      </dgm:t>
    </dgm:pt>
    <dgm:pt modelId="{43415DD8-1DFB-4642-8676-AA229F22272B}" type="parTrans" cxnId="{9A73ADE3-6C63-40F3-A440-686C8C64888E}">
      <dgm:prSet/>
      <dgm:spPr/>
      <dgm:t>
        <a:bodyPr/>
        <a:lstStyle/>
        <a:p>
          <a:endParaRPr lang="en-US"/>
        </a:p>
      </dgm:t>
    </dgm:pt>
    <dgm:pt modelId="{E6478024-1FB5-4BEF-8B8C-8F7FEC2B2033}" type="sibTrans" cxnId="{9A73ADE3-6C63-40F3-A440-686C8C64888E}">
      <dgm:prSet/>
      <dgm:spPr/>
      <dgm:t>
        <a:bodyPr/>
        <a:lstStyle/>
        <a:p>
          <a:endParaRPr lang="en-US"/>
        </a:p>
      </dgm:t>
    </dgm:pt>
    <dgm:pt modelId="{96900FD4-CB9E-433E-8CC5-C68C2A640F90}">
      <dgm:prSet/>
      <dgm:spPr/>
      <dgm:t>
        <a:bodyPr/>
        <a:lstStyle/>
        <a:p>
          <a:r>
            <a:rPr lang="en-US"/>
            <a:t>Categorical predictors handled directly</a:t>
          </a:r>
        </a:p>
      </dgm:t>
    </dgm:pt>
    <dgm:pt modelId="{7655DC15-B474-446C-B3BF-F692E09B94D0}" type="parTrans" cxnId="{912C5674-279C-4862-9638-2F3C415C75AC}">
      <dgm:prSet/>
      <dgm:spPr/>
      <dgm:t>
        <a:bodyPr/>
        <a:lstStyle/>
        <a:p>
          <a:endParaRPr lang="en-US"/>
        </a:p>
      </dgm:t>
    </dgm:pt>
    <dgm:pt modelId="{22900AC0-D571-46DE-8738-C455041A8169}" type="sibTrans" cxnId="{912C5674-279C-4862-9638-2F3C415C75AC}">
      <dgm:prSet/>
      <dgm:spPr/>
      <dgm:t>
        <a:bodyPr/>
        <a:lstStyle/>
        <a:p>
          <a:endParaRPr lang="en-US"/>
        </a:p>
      </dgm:t>
    </dgm:pt>
    <dgm:pt modelId="{D9748022-E048-4D8D-A066-02437A1B6EA9}" type="pres">
      <dgm:prSet presAssocID="{0C8DE063-CD5F-4EA3-A4D6-BCA1EE2EACC3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B56001D-80AC-4A77-B7CE-241B5BFEC007}" type="pres">
      <dgm:prSet presAssocID="{9B878A00-1409-4DCE-BBD5-EA2BE236242F}" presName="parentLin" presStyleCnt="0"/>
      <dgm:spPr/>
    </dgm:pt>
    <dgm:pt modelId="{59CE7906-E39D-4542-8FF2-E332AA205E97}" type="pres">
      <dgm:prSet presAssocID="{9B878A00-1409-4DCE-BBD5-EA2BE236242F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817A196C-0881-41C3-A4AE-65A828DA24E5}" type="pres">
      <dgm:prSet presAssocID="{9B878A00-1409-4DCE-BBD5-EA2BE236242F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70A532-4D25-46F3-88C2-9C46F78E2A5E}" type="pres">
      <dgm:prSet presAssocID="{9B878A00-1409-4DCE-BBD5-EA2BE236242F}" presName="negativeSpace" presStyleCnt="0"/>
      <dgm:spPr/>
    </dgm:pt>
    <dgm:pt modelId="{3F782596-69EC-4DCF-9158-6664ADE0F860}" type="pres">
      <dgm:prSet presAssocID="{9B878A00-1409-4DCE-BBD5-EA2BE236242F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A792F5-A989-4F48-BB67-5CE741219E38}" type="pres">
      <dgm:prSet presAssocID="{5E02C622-F714-4D7F-8EA7-C148D8192449}" presName="spaceBetweenRectangles" presStyleCnt="0"/>
      <dgm:spPr/>
    </dgm:pt>
    <dgm:pt modelId="{0B75F117-2BE5-47C2-806D-F831D0AEF661}" type="pres">
      <dgm:prSet presAssocID="{D9E3D402-91FA-43B9-9B2D-2AF5845EEAFF}" presName="parentLin" presStyleCnt="0"/>
      <dgm:spPr/>
    </dgm:pt>
    <dgm:pt modelId="{241CFDDE-9328-442F-8F1A-BEDB9EBB9E7A}" type="pres">
      <dgm:prSet presAssocID="{D9E3D402-91FA-43B9-9B2D-2AF5845EEAFF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E9940521-85A8-4A12-B2E9-5B41C0010869}" type="pres">
      <dgm:prSet presAssocID="{D9E3D402-91FA-43B9-9B2D-2AF5845EEAFF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175874-8BFB-4068-8D07-135BF705B139}" type="pres">
      <dgm:prSet presAssocID="{D9E3D402-91FA-43B9-9B2D-2AF5845EEAFF}" presName="negativeSpace" presStyleCnt="0"/>
      <dgm:spPr/>
    </dgm:pt>
    <dgm:pt modelId="{45AA3399-34B3-4D12-B55C-D1743558ED45}" type="pres">
      <dgm:prSet presAssocID="{D9E3D402-91FA-43B9-9B2D-2AF5845EEAFF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FA32B48-0329-4155-B549-5DF62ADA8DAB}" type="presOf" srcId="{96900FD4-CB9E-433E-8CC5-C68C2A640F90}" destId="{45AA3399-34B3-4D12-B55C-D1743558ED45}" srcOrd="0" destOrd="1" presId="urn:microsoft.com/office/officeart/2005/8/layout/list1"/>
    <dgm:cxn modelId="{1E6E670E-BAAF-4A09-ABCF-3B52ECD8575A}" type="presOf" srcId="{D9E3D402-91FA-43B9-9B2D-2AF5845EEAFF}" destId="{241CFDDE-9328-442F-8F1A-BEDB9EBB9E7A}" srcOrd="0" destOrd="0" presId="urn:microsoft.com/office/officeart/2005/8/layout/list1"/>
    <dgm:cxn modelId="{673834EF-EA84-428B-986B-332FE2405D25}" type="presOf" srcId="{56A3C2BC-2892-46E5-9AF4-541679F6A238}" destId="{45AA3399-34B3-4D12-B55C-D1743558ED45}" srcOrd="0" destOrd="0" presId="urn:microsoft.com/office/officeart/2005/8/layout/list1"/>
    <dgm:cxn modelId="{6F2CE595-8B93-41A5-9985-67E4F2673D68}" type="presOf" srcId="{45EFD8E3-288C-457B-A850-AFD16BA72D85}" destId="{3F782596-69EC-4DCF-9158-6664ADE0F860}" srcOrd="0" destOrd="0" presId="urn:microsoft.com/office/officeart/2005/8/layout/list1"/>
    <dgm:cxn modelId="{DB5ADEAA-04E4-4B1C-B248-A26B6A27134F}" srcId="{9B878A00-1409-4DCE-BBD5-EA2BE236242F}" destId="{45EFD8E3-288C-457B-A850-AFD16BA72D85}" srcOrd="0" destOrd="0" parTransId="{A59BB332-9146-423F-AF14-CE5F7E236FF2}" sibTransId="{872CB95C-A224-4BF7-96E7-D3D78FEE39FD}"/>
    <dgm:cxn modelId="{9A73ADE3-6C63-40F3-A440-686C8C64888E}" srcId="{D9E3D402-91FA-43B9-9B2D-2AF5845EEAFF}" destId="{56A3C2BC-2892-46E5-9AF4-541679F6A238}" srcOrd="0" destOrd="0" parTransId="{43415DD8-1DFB-4642-8676-AA229F22272B}" sibTransId="{E6478024-1FB5-4BEF-8B8C-8F7FEC2B2033}"/>
    <dgm:cxn modelId="{65E22349-903C-4A1D-BE30-590DAC4EBEE2}" srcId="{0C8DE063-CD5F-4EA3-A4D6-BCA1EE2EACC3}" destId="{9B878A00-1409-4DCE-BBD5-EA2BE236242F}" srcOrd="0" destOrd="0" parTransId="{5EC1449D-0F5E-4921-B95F-2C4AB0C72655}" sibTransId="{5E02C622-F714-4D7F-8EA7-C148D8192449}"/>
    <dgm:cxn modelId="{4B94A50C-A0D0-4BE0-A0C9-92C7B4F472C7}" type="presOf" srcId="{9B878A00-1409-4DCE-BBD5-EA2BE236242F}" destId="{59CE7906-E39D-4542-8FF2-E332AA205E97}" srcOrd="0" destOrd="0" presId="urn:microsoft.com/office/officeart/2005/8/layout/list1"/>
    <dgm:cxn modelId="{53005527-C5AE-4596-A530-6D0753421B4C}" type="presOf" srcId="{D9E3D402-91FA-43B9-9B2D-2AF5845EEAFF}" destId="{E9940521-85A8-4A12-B2E9-5B41C0010869}" srcOrd="1" destOrd="0" presId="urn:microsoft.com/office/officeart/2005/8/layout/list1"/>
    <dgm:cxn modelId="{4D7144F3-8136-41B1-A6D9-39FF651EB750}" srcId="{0C8DE063-CD5F-4EA3-A4D6-BCA1EE2EACC3}" destId="{D9E3D402-91FA-43B9-9B2D-2AF5845EEAFF}" srcOrd="1" destOrd="0" parTransId="{DB406F48-8EE7-415E-AEB3-560AC673F02D}" sibTransId="{C93F273E-5C9E-4741-B7BD-1E0C879C4DD8}"/>
    <dgm:cxn modelId="{0D8436BA-7EB5-4F97-A5F5-AEFE19B66917}" type="presOf" srcId="{0C8DE063-CD5F-4EA3-A4D6-BCA1EE2EACC3}" destId="{D9748022-E048-4D8D-A066-02437A1B6EA9}" srcOrd="0" destOrd="0" presId="urn:microsoft.com/office/officeart/2005/8/layout/list1"/>
    <dgm:cxn modelId="{912C5674-279C-4862-9638-2F3C415C75AC}" srcId="{D9E3D402-91FA-43B9-9B2D-2AF5845EEAFF}" destId="{96900FD4-CB9E-433E-8CC5-C68C2A640F90}" srcOrd="1" destOrd="0" parTransId="{7655DC15-B474-446C-B3BF-F692E09B94D0}" sibTransId="{22900AC0-D571-46DE-8738-C455041A8169}"/>
    <dgm:cxn modelId="{DEE3E853-41B0-4BBC-9569-19375DB89C41}" type="presOf" srcId="{9B878A00-1409-4DCE-BBD5-EA2BE236242F}" destId="{817A196C-0881-41C3-A4AE-65A828DA24E5}" srcOrd="1" destOrd="0" presId="urn:microsoft.com/office/officeart/2005/8/layout/list1"/>
    <dgm:cxn modelId="{8B66CB37-1764-4D04-9EBE-BE93C17C8FD5}" type="presParOf" srcId="{D9748022-E048-4D8D-A066-02437A1B6EA9}" destId="{3B56001D-80AC-4A77-B7CE-241B5BFEC007}" srcOrd="0" destOrd="0" presId="urn:microsoft.com/office/officeart/2005/8/layout/list1"/>
    <dgm:cxn modelId="{D0AC59B1-B0A3-489E-9DA5-E833720AEE05}" type="presParOf" srcId="{3B56001D-80AC-4A77-B7CE-241B5BFEC007}" destId="{59CE7906-E39D-4542-8FF2-E332AA205E97}" srcOrd="0" destOrd="0" presId="urn:microsoft.com/office/officeart/2005/8/layout/list1"/>
    <dgm:cxn modelId="{69F7BEFA-1AAD-4B26-B4A3-E0387516CE77}" type="presParOf" srcId="{3B56001D-80AC-4A77-B7CE-241B5BFEC007}" destId="{817A196C-0881-41C3-A4AE-65A828DA24E5}" srcOrd="1" destOrd="0" presId="urn:microsoft.com/office/officeart/2005/8/layout/list1"/>
    <dgm:cxn modelId="{57B6EFC7-C57F-49DB-BD88-3A1354EC6FA8}" type="presParOf" srcId="{D9748022-E048-4D8D-A066-02437A1B6EA9}" destId="{6370A532-4D25-46F3-88C2-9C46F78E2A5E}" srcOrd="1" destOrd="0" presId="urn:microsoft.com/office/officeart/2005/8/layout/list1"/>
    <dgm:cxn modelId="{13DAEAD5-7994-4E61-A984-9BB01B85F1DD}" type="presParOf" srcId="{D9748022-E048-4D8D-A066-02437A1B6EA9}" destId="{3F782596-69EC-4DCF-9158-6664ADE0F860}" srcOrd="2" destOrd="0" presId="urn:microsoft.com/office/officeart/2005/8/layout/list1"/>
    <dgm:cxn modelId="{27B426CA-3433-4E31-968B-0620FF5F47FE}" type="presParOf" srcId="{D9748022-E048-4D8D-A066-02437A1B6EA9}" destId="{CDA792F5-A989-4F48-BB67-5CE741219E38}" srcOrd="3" destOrd="0" presId="urn:microsoft.com/office/officeart/2005/8/layout/list1"/>
    <dgm:cxn modelId="{2FEC314A-477C-4A04-9E69-6A8E87505B8F}" type="presParOf" srcId="{D9748022-E048-4D8D-A066-02437A1B6EA9}" destId="{0B75F117-2BE5-47C2-806D-F831D0AEF661}" srcOrd="4" destOrd="0" presId="urn:microsoft.com/office/officeart/2005/8/layout/list1"/>
    <dgm:cxn modelId="{1228ACFB-360F-4014-81C6-CE61C4469F0D}" type="presParOf" srcId="{0B75F117-2BE5-47C2-806D-F831D0AEF661}" destId="{241CFDDE-9328-442F-8F1A-BEDB9EBB9E7A}" srcOrd="0" destOrd="0" presId="urn:microsoft.com/office/officeart/2005/8/layout/list1"/>
    <dgm:cxn modelId="{A18AA9A3-BFDD-44E8-BFB6-EAD578A586CE}" type="presParOf" srcId="{0B75F117-2BE5-47C2-806D-F831D0AEF661}" destId="{E9940521-85A8-4A12-B2E9-5B41C0010869}" srcOrd="1" destOrd="0" presId="urn:microsoft.com/office/officeart/2005/8/layout/list1"/>
    <dgm:cxn modelId="{5E5CCD48-2294-43B0-83EA-278BF785C143}" type="presParOf" srcId="{D9748022-E048-4D8D-A066-02437A1B6EA9}" destId="{54175874-8BFB-4068-8D07-135BF705B139}" srcOrd="5" destOrd="0" presId="urn:microsoft.com/office/officeart/2005/8/layout/list1"/>
    <dgm:cxn modelId="{1AA21D10-3042-4560-8520-254D46B1FCF6}" type="presParOf" srcId="{D9748022-E048-4D8D-A066-02437A1B6EA9}" destId="{45AA3399-34B3-4D12-B55C-D1743558ED4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938078B-4BAE-4412-A9DA-1E6AE4B3B42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9F19096-78F0-4F3E-B3A3-FA5BC0C01E77}">
      <dgm:prSet/>
      <dgm:spPr/>
      <dgm:t>
        <a:bodyPr/>
        <a:lstStyle/>
        <a:p>
          <a:r>
            <a:rPr lang="en-US" b="1"/>
            <a:t>Process:</a:t>
          </a:r>
          <a:endParaRPr lang="en-US"/>
        </a:p>
      </dgm:t>
    </dgm:pt>
    <dgm:pt modelId="{76422B94-FF41-444B-B6E1-77E1C61886A5}" type="parTrans" cxnId="{E668D769-6283-490D-9BA6-AC431FEBE931}">
      <dgm:prSet/>
      <dgm:spPr/>
      <dgm:t>
        <a:bodyPr/>
        <a:lstStyle/>
        <a:p>
          <a:endParaRPr lang="en-US"/>
        </a:p>
      </dgm:t>
    </dgm:pt>
    <dgm:pt modelId="{8E3902AC-33FB-439A-9388-0DDC77DF8A8F}" type="sibTrans" cxnId="{E668D769-6283-490D-9BA6-AC431FEBE931}">
      <dgm:prSet/>
      <dgm:spPr/>
      <dgm:t>
        <a:bodyPr/>
        <a:lstStyle/>
        <a:p>
          <a:endParaRPr lang="en-US"/>
        </a:p>
      </dgm:t>
    </dgm:pt>
    <dgm:pt modelId="{892CA2D3-C2B2-4D0C-B7FC-B81C2ACFA9E6}">
      <dgm:prSet/>
      <dgm:spPr/>
      <dgm:t>
        <a:bodyPr/>
        <a:lstStyle/>
        <a:p>
          <a:r>
            <a:rPr lang="en-US"/>
            <a:t>Predictors selected based on biological relevance and correlation analysis</a:t>
          </a:r>
        </a:p>
      </dgm:t>
    </dgm:pt>
    <dgm:pt modelId="{12CBFDE6-A9E0-4056-9112-479B5BD5CDBB}" type="parTrans" cxnId="{FA0B226C-89DC-4AC9-84D1-368B210541E5}">
      <dgm:prSet/>
      <dgm:spPr/>
      <dgm:t>
        <a:bodyPr/>
        <a:lstStyle/>
        <a:p>
          <a:endParaRPr lang="en-US"/>
        </a:p>
      </dgm:t>
    </dgm:pt>
    <dgm:pt modelId="{2F60BDEA-79A0-4717-ACC7-3A3E39C1ABF4}" type="sibTrans" cxnId="{FA0B226C-89DC-4AC9-84D1-368B210541E5}">
      <dgm:prSet/>
      <dgm:spPr/>
      <dgm:t>
        <a:bodyPr/>
        <a:lstStyle/>
        <a:p>
          <a:endParaRPr lang="en-US"/>
        </a:p>
      </dgm:t>
    </dgm:pt>
    <dgm:pt modelId="{F04B7E2F-56D0-4FDB-B1A9-5FD56AE78B68}">
      <dgm:prSet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 </a:t>
          </a:r>
          <a:r>
            <a:rPr lang="en-US"/>
            <a:t>Checked and avoided strong multicollinearity among predictors</a:t>
          </a:r>
        </a:p>
      </dgm:t>
    </dgm:pt>
    <dgm:pt modelId="{3B93FABF-BFFA-4D3E-9E6F-0B868D142DE5}" type="parTrans" cxnId="{35AEF6A2-1E8C-4C86-A739-8FC8DE2F3AC7}">
      <dgm:prSet/>
      <dgm:spPr/>
      <dgm:t>
        <a:bodyPr/>
        <a:lstStyle/>
        <a:p>
          <a:endParaRPr lang="en-US"/>
        </a:p>
      </dgm:t>
    </dgm:pt>
    <dgm:pt modelId="{262D3C8B-5E5B-48CD-AFDF-6B54E3C8503C}" type="sibTrans" cxnId="{35AEF6A2-1E8C-4C86-A739-8FC8DE2F3AC7}">
      <dgm:prSet/>
      <dgm:spPr/>
      <dgm:t>
        <a:bodyPr/>
        <a:lstStyle/>
        <a:p>
          <a:endParaRPr lang="en-US"/>
        </a:p>
      </dgm:t>
    </dgm:pt>
    <dgm:pt modelId="{D90B970B-6886-4BEA-8721-87FB0F07C5AE}">
      <dgm:prSet/>
      <dgm:spPr/>
      <dgm:t>
        <a:bodyPr/>
        <a:lstStyle/>
        <a:p>
          <a:r>
            <a:rPr lang="en-US" b="1"/>
            <a:t>Final Model:</a:t>
          </a:r>
          <a:endParaRPr lang="en-US"/>
        </a:p>
      </dgm:t>
    </dgm:pt>
    <dgm:pt modelId="{88DFCEF4-4FA4-4B64-95D8-798AF542A3C0}" type="parTrans" cxnId="{73D9C91C-00C3-432C-8423-8E0A308E15FC}">
      <dgm:prSet/>
      <dgm:spPr/>
      <dgm:t>
        <a:bodyPr/>
        <a:lstStyle/>
        <a:p>
          <a:endParaRPr lang="en-US"/>
        </a:p>
      </dgm:t>
    </dgm:pt>
    <dgm:pt modelId="{D9F88C58-F56D-4BA2-B36E-139C3369EAC4}" type="sibTrans" cxnId="{73D9C91C-00C3-432C-8423-8E0A308E15FC}">
      <dgm:prSet/>
      <dgm:spPr/>
      <dgm:t>
        <a:bodyPr/>
        <a:lstStyle/>
        <a:p>
          <a:endParaRPr lang="en-US"/>
        </a:p>
      </dgm:t>
    </dgm:pt>
    <dgm:pt modelId="{1BA0D957-1320-4685-917E-72CD0D454154}">
      <dgm:prSet/>
      <dgm:spPr/>
      <dgm:t>
        <a:bodyPr/>
        <a:lstStyle/>
        <a:p>
          <a:r>
            <a:rPr lang="en-US"/>
            <a:t>Included key predictors with clear associations to animal classes</a:t>
          </a:r>
        </a:p>
      </dgm:t>
    </dgm:pt>
    <dgm:pt modelId="{35FA2C83-D21B-4902-AB90-8CEA2E4D373B}" type="parTrans" cxnId="{B0B77CD7-FAE4-4008-A76A-E2F7931B4E44}">
      <dgm:prSet/>
      <dgm:spPr/>
      <dgm:t>
        <a:bodyPr/>
        <a:lstStyle/>
        <a:p>
          <a:endParaRPr lang="en-US"/>
        </a:p>
      </dgm:t>
    </dgm:pt>
    <dgm:pt modelId="{F3CDDEA1-E412-4241-801C-F27BB8228344}" type="sibTrans" cxnId="{B0B77CD7-FAE4-4008-A76A-E2F7931B4E44}">
      <dgm:prSet/>
      <dgm:spPr/>
      <dgm:t>
        <a:bodyPr/>
        <a:lstStyle/>
        <a:p>
          <a:endParaRPr lang="en-US"/>
        </a:p>
      </dgm:t>
    </dgm:pt>
    <dgm:pt modelId="{BC9231BB-3D9E-4DBB-936B-B7BF050A3104}">
      <dgm:prSet/>
      <dgm:spPr/>
      <dgm:t>
        <a:bodyPr/>
        <a:lstStyle/>
        <a:p>
          <a:r>
            <a:rPr lang="en-US"/>
            <a:t>Focused on maintaining interpretability and practical meaning</a:t>
          </a:r>
        </a:p>
      </dgm:t>
    </dgm:pt>
    <dgm:pt modelId="{17BED542-72DE-4817-B722-9AA17842BD3A}" type="parTrans" cxnId="{AF8C46EB-FBA0-404E-B221-67E5CE0F4DD6}">
      <dgm:prSet/>
      <dgm:spPr/>
      <dgm:t>
        <a:bodyPr/>
        <a:lstStyle/>
        <a:p>
          <a:endParaRPr lang="en-US"/>
        </a:p>
      </dgm:t>
    </dgm:pt>
    <dgm:pt modelId="{01240123-9325-4F72-9D9E-54E5347D40AF}" type="sibTrans" cxnId="{AF8C46EB-FBA0-404E-B221-67E5CE0F4DD6}">
      <dgm:prSet/>
      <dgm:spPr/>
      <dgm:t>
        <a:bodyPr/>
        <a:lstStyle/>
        <a:p>
          <a:endParaRPr lang="en-US"/>
        </a:p>
      </dgm:t>
    </dgm:pt>
    <dgm:pt modelId="{F55CAD07-A693-4374-8FE6-AA3759B533D7}">
      <dgm:prSet/>
      <dgm:spPr/>
      <dgm:t>
        <a:bodyPr/>
        <a:lstStyle/>
        <a:p>
          <a:pPr rtl="0"/>
          <a:r>
            <a:rPr lang="en-US"/>
            <a:t>Stepwise selection was considered but not implemented</a:t>
          </a:r>
        </a:p>
      </dgm:t>
    </dgm:pt>
    <dgm:pt modelId="{C1F11516-AF22-4211-80DF-E4FDA05ED1D0}" type="parTrans" cxnId="{537333AB-E111-4E67-908C-2CBA707E7BCD}">
      <dgm:prSet/>
      <dgm:spPr/>
      <dgm:t>
        <a:bodyPr/>
        <a:lstStyle/>
        <a:p>
          <a:endParaRPr lang="en-US"/>
        </a:p>
      </dgm:t>
    </dgm:pt>
    <dgm:pt modelId="{4EC120B8-11B1-42D6-86CE-F907B56CB3B9}" type="sibTrans" cxnId="{537333AB-E111-4E67-908C-2CBA707E7BCD}">
      <dgm:prSet/>
      <dgm:spPr/>
      <dgm:t>
        <a:bodyPr/>
        <a:lstStyle/>
        <a:p>
          <a:endParaRPr lang="en-US"/>
        </a:p>
      </dgm:t>
    </dgm:pt>
    <dgm:pt modelId="{6CC5DF59-7414-4ADB-98DB-FD0F1025A71C}" type="pres">
      <dgm:prSet presAssocID="{7938078B-4BAE-4412-A9DA-1E6AE4B3B42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D149417-9093-49DC-8EF3-3185D480048C}" type="pres">
      <dgm:prSet presAssocID="{A9F19096-78F0-4F3E-B3A3-FA5BC0C01E77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A6610F-06D6-4445-B272-8DF60BDA00E7}" type="pres">
      <dgm:prSet presAssocID="{A9F19096-78F0-4F3E-B3A3-FA5BC0C01E77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6EA512-4BAB-45DA-8676-5F05FA337781}" type="pres">
      <dgm:prSet presAssocID="{F04B7E2F-56D0-4FDB-B1A9-5FD56AE78B68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346E47-5762-4AF7-A825-4712B3555670}" type="pres">
      <dgm:prSet presAssocID="{262D3C8B-5E5B-48CD-AFDF-6B54E3C8503C}" presName="spacer" presStyleCnt="0"/>
      <dgm:spPr/>
    </dgm:pt>
    <dgm:pt modelId="{75BE56C3-BE26-4D82-ABEE-DFC1090E6F21}" type="pres">
      <dgm:prSet presAssocID="{D90B970B-6886-4BEA-8721-87FB0F07C5AE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4CA53D-8C84-497E-8C46-24C92B7AB5F5}" type="pres">
      <dgm:prSet presAssocID="{D90B970B-6886-4BEA-8721-87FB0F07C5AE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938856-96DB-4980-BC83-8DAB38D2E4C2}" type="pres">
      <dgm:prSet presAssocID="{BC9231BB-3D9E-4DBB-936B-B7BF050A3104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F42994-5E97-4DCC-9638-1981523BA3C2}" type="pres">
      <dgm:prSet presAssocID="{01240123-9325-4F72-9D9E-54E5347D40AF}" presName="spacer" presStyleCnt="0"/>
      <dgm:spPr/>
    </dgm:pt>
    <dgm:pt modelId="{4310AC4E-B727-49AC-9E29-315CD98E698D}" type="pres">
      <dgm:prSet presAssocID="{F55CAD07-A693-4374-8FE6-AA3759B533D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5C9175A-7DD5-48B1-885F-38AA9633F817}" type="presOf" srcId="{BC9231BB-3D9E-4DBB-936B-B7BF050A3104}" destId="{B3938856-96DB-4980-BC83-8DAB38D2E4C2}" srcOrd="0" destOrd="0" presId="urn:microsoft.com/office/officeart/2005/8/layout/vList2"/>
    <dgm:cxn modelId="{34374F62-5F1A-46E1-BAC9-E0748049BBF6}" type="presOf" srcId="{A9F19096-78F0-4F3E-B3A3-FA5BC0C01E77}" destId="{3D149417-9093-49DC-8EF3-3185D480048C}" srcOrd="0" destOrd="0" presId="urn:microsoft.com/office/officeart/2005/8/layout/vList2"/>
    <dgm:cxn modelId="{73D9C91C-00C3-432C-8423-8E0A308E15FC}" srcId="{7938078B-4BAE-4412-A9DA-1E6AE4B3B42A}" destId="{D90B970B-6886-4BEA-8721-87FB0F07C5AE}" srcOrd="2" destOrd="0" parTransId="{88DFCEF4-4FA4-4B64-95D8-798AF542A3C0}" sibTransId="{D9F88C58-F56D-4BA2-B36E-139C3369EAC4}"/>
    <dgm:cxn modelId="{E668D769-6283-490D-9BA6-AC431FEBE931}" srcId="{7938078B-4BAE-4412-A9DA-1E6AE4B3B42A}" destId="{A9F19096-78F0-4F3E-B3A3-FA5BC0C01E77}" srcOrd="0" destOrd="0" parTransId="{76422B94-FF41-444B-B6E1-77E1C61886A5}" sibTransId="{8E3902AC-33FB-439A-9388-0DDC77DF8A8F}"/>
    <dgm:cxn modelId="{C44B396D-6745-45D5-A262-4FF318A8F8FE}" type="presOf" srcId="{D90B970B-6886-4BEA-8721-87FB0F07C5AE}" destId="{75BE56C3-BE26-4D82-ABEE-DFC1090E6F21}" srcOrd="0" destOrd="0" presId="urn:microsoft.com/office/officeart/2005/8/layout/vList2"/>
    <dgm:cxn modelId="{FA0B226C-89DC-4AC9-84D1-368B210541E5}" srcId="{A9F19096-78F0-4F3E-B3A3-FA5BC0C01E77}" destId="{892CA2D3-C2B2-4D0C-B7FC-B81C2ACFA9E6}" srcOrd="0" destOrd="0" parTransId="{12CBFDE6-A9E0-4056-9112-479B5BD5CDBB}" sibTransId="{2F60BDEA-79A0-4717-ACC7-3A3E39C1ABF4}"/>
    <dgm:cxn modelId="{4B390B70-5E33-40E5-994B-F43C67D6BF8C}" type="presOf" srcId="{1BA0D957-1320-4685-917E-72CD0D454154}" destId="{0D4CA53D-8C84-497E-8C46-24C92B7AB5F5}" srcOrd="0" destOrd="0" presId="urn:microsoft.com/office/officeart/2005/8/layout/vList2"/>
    <dgm:cxn modelId="{27D56A25-9715-4A83-BBE3-FA6B06B4AF79}" type="presOf" srcId="{7938078B-4BAE-4412-A9DA-1E6AE4B3B42A}" destId="{6CC5DF59-7414-4ADB-98DB-FD0F1025A71C}" srcOrd="0" destOrd="0" presId="urn:microsoft.com/office/officeart/2005/8/layout/vList2"/>
    <dgm:cxn modelId="{B0B77CD7-FAE4-4008-A76A-E2F7931B4E44}" srcId="{D90B970B-6886-4BEA-8721-87FB0F07C5AE}" destId="{1BA0D957-1320-4685-917E-72CD0D454154}" srcOrd="0" destOrd="0" parTransId="{35FA2C83-D21B-4902-AB90-8CEA2E4D373B}" sibTransId="{F3CDDEA1-E412-4241-801C-F27BB8228344}"/>
    <dgm:cxn modelId="{0E4500CC-132D-4DD2-8A57-747D2C42238C}" type="presOf" srcId="{892CA2D3-C2B2-4D0C-B7FC-B81C2ACFA9E6}" destId="{94A6610F-06D6-4445-B272-8DF60BDA00E7}" srcOrd="0" destOrd="0" presId="urn:microsoft.com/office/officeart/2005/8/layout/vList2"/>
    <dgm:cxn modelId="{35AEF6A2-1E8C-4C86-A739-8FC8DE2F3AC7}" srcId="{7938078B-4BAE-4412-A9DA-1E6AE4B3B42A}" destId="{F04B7E2F-56D0-4FDB-B1A9-5FD56AE78B68}" srcOrd="1" destOrd="0" parTransId="{3B93FABF-BFFA-4D3E-9E6F-0B868D142DE5}" sibTransId="{262D3C8B-5E5B-48CD-AFDF-6B54E3C8503C}"/>
    <dgm:cxn modelId="{AF8C46EB-FBA0-404E-B221-67E5CE0F4DD6}" srcId="{7938078B-4BAE-4412-A9DA-1E6AE4B3B42A}" destId="{BC9231BB-3D9E-4DBB-936B-B7BF050A3104}" srcOrd="3" destOrd="0" parTransId="{17BED542-72DE-4817-B722-9AA17842BD3A}" sibTransId="{01240123-9325-4F72-9D9E-54E5347D40AF}"/>
    <dgm:cxn modelId="{48F6BF87-6C4E-4905-8E0D-F392E7F8D62B}" type="presOf" srcId="{F55CAD07-A693-4374-8FE6-AA3759B533D7}" destId="{4310AC4E-B727-49AC-9E29-315CD98E698D}" srcOrd="0" destOrd="0" presId="urn:microsoft.com/office/officeart/2005/8/layout/vList2"/>
    <dgm:cxn modelId="{5F9545A6-E95E-4DA6-A4D4-5F3C4989F6FB}" type="presOf" srcId="{F04B7E2F-56D0-4FDB-B1A9-5FD56AE78B68}" destId="{FB6EA512-4BAB-45DA-8676-5F05FA337781}" srcOrd="0" destOrd="0" presId="urn:microsoft.com/office/officeart/2005/8/layout/vList2"/>
    <dgm:cxn modelId="{537333AB-E111-4E67-908C-2CBA707E7BCD}" srcId="{7938078B-4BAE-4412-A9DA-1E6AE4B3B42A}" destId="{F55CAD07-A693-4374-8FE6-AA3759B533D7}" srcOrd="4" destOrd="0" parTransId="{C1F11516-AF22-4211-80DF-E4FDA05ED1D0}" sibTransId="{4EC120B8-11B1-42D6-86CE-F907B56CB3B9}"/>
    <dgm:cxn modelId="{AC0C120A-E699-41EC-88B3-37C358C79798}" type="presParOf" srcId="{6CC5DF59-7414-4ADB-98DB-FD0F1025A71C}" destId="{3D149417-9093-49DC-8EF3-3185D480048C}" srcOrd="0" destOrd="0" presId="urn:microsoft.com/office/officeart/2005/8/layout/vList2"/>
    <dgm:cxn modelId="{11459064-8BE4-4799-8D7F-BF156D09003C}" type="presParOf" srcId="{6CC5DF59-7414-4ADB-98DB-FD0F1025A71C}" destId="{94A6610F-06D6-4445-B272-8DF60BDA00E7}" srcOrd="1" destOrd="0" presId="urn:microsoft.com/office/officeart/2005/8/layout/vList2"/>
    <dgm:cxn modelId="{76ABB2DB-5DF1-417E-8E0E-302EC64E40D7}" type="presParOf" srcId="{6CC5DF59-7414-4ADB-98DB-FD0F1025A71C}" destId="{FB6EA512-4BAB-45DA-8676-5F05FA337781}" srcOrd="2" destOrd="0" presId="urn:microsoft.com/office/officeart/2005/8/layout/vList2"/>
    <dgm:cxn modelId="{5F21B97D-0DBA-4786-87C0-7C4256B29DA5}" type="presParOf" srcId="{6CC5DF59-7414-4ADB-98DB-FD0F1025A71C}" destId="{66346E47-5762-4AF7-A825-4712B3555670}" srcOrd="3" destOrd="0" presId="urn:microsoft.com/office/officeart/2005/8/layout/vList2"/>
    <dgm:cxn modelId="{C0B0852D-2459-4955-8035-B80E4D0251F7}" type="presParOf" srcId="{6CC5DF59-7414-4ADB-98DB-FD0F1025A71C}" destId="{75BE56C3-BE26-4D82-ABEE-DFC1090E6F21}" srcOrd="4" destOrd="0" presId="urn:microsoft.com/office/officeart/2005/8/layout/vList2"/>
    <dgm:cxn modelId="{D3F3FA02-0CE2-4FFE-AD68-C44BC98132D9}" type="presParOf" srcId="{6CC5DF59-7414-4ADB-98DB-FD0F1025A71C}" destId="{0D4CA53D-8C84-497E-8C46-24C92B7AB5F5}" srcOrd="5" destOrd="0" presId="urn:microsoft.com/office/officeart/2005/8/layout/vList2"/>
    <dgm:cxn modelId="{5F844692-4E1F-409F-8573-22A58ED61E63}" type="presParOf" srcId="{6CC5DF59-7414-4ADB-98DB-FD0F1025A71C}" destId="{B3938856-96DB-4980-BC83-8DAB38D2E4C2}" srcOrd="6" destOrd="0" presId="urn:microsoft.com/office/officeart/2005/8/layout/vList2"/>
    <dgm:cxn modelId="{2FCE799B-4C49-4BA9-B738-F6DC4BABC6BF}" type="presParOf" srcId="{6CC5DF59-7414-4ADB-98DB-FD0F1025A71C}" destId="{5BF42994-5E97-4DCC-9638-1981523BA3C2}" srcOrd="7" destOrd="0" presId="urn:microsoft.com/office/officeart/2005/8/layout/vList2"/>
    <dgm:cxn modelId="{987F5501-EAE2-4708-ADD9-1E08180443B7}" type="presParOf" srcId="{6CC5DF59-7414-4ADB-98DB-FD0F1025A71C}" destId="{4310AC4E-B727-49AC-9E29-315CD98E698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126F6B-FD7F-4324-A0CA-A114ACA7B45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803A35-8BF2-4B54-A275-05C5508D02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Hair</a:t>
          </a:r>
        </a:p>
      </dgm:t>
    </dgm:pt>
    <dgm:pt modelId="{79C68EED-A0C1-4E63-AA6F-726B010388AE}" type="parTrans" cxnId="{F54C3D55-9C00-4566-80A0-9F2584EEAA50}">
      <dgm:prSet/>
      <dgm:spPr/>
      <dgm:t>
        <a:bodyPr/>
        <a:lstStyle/>
        <a:p>
          <a:endParaRPr lang="en-US"/>
        </a:p>
      </dgm:t>
    </dgm:pt>
    <dgm:pt modelId="{C610608F-88D6-460E-8F1B-6001C6E0770C}" type="sibTrans" cxnId="{F54C3D55-9C00-4566-80A0-9F2584EEAA50}">
      <dgm:prSet/>
      <dgm:spPr/>
      <dgm:t>
        <a:bodyPr/>
        <a:lstStyle/>
        <a:p>
          <a:endParaRPr lang="en-US"/>
        </a:p>
      </dgm:t>
    </dgm:pt>
    <dgm:pt modelId="{A34D0760-2C76-41B6-AEF1-6D4C130298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Feathers</a:t>
          </a:r>
        </a:p>
      </dgm:t>
    </dgm:pt>
    <dgm:pt modelId="{8EF70572-5F9F-450A-9653-89A4EC037B97}" type="parTrans" cxnId="{FC3387E5-D7B9-4298-AB11-47685DE4F8C4}">
      <dgm:prSet/>
      <dgm:spPr/>
      <dgm:t>
        <a:bodyPr/>
        <a:lstStyle/>
        <a:p>
          <a:endParaRPr lang="en-US"/>
        </a:p>
      </dgm:t>
    </dgm:pt>
    <dgm:pt modelId="{6D3BB625-C952-4755-944F-4637E1DC6C9D}" type="sibTrans" cxnId="{FC3387E5-D7B9-4298-AB11-47685DE4F8C4}">
      <dgm:prSet/>
      <dgm:spPr/>
      <dgm:t>
        <a:bodyPr/>
        <a:lstStyle/>
        <a:p>
          <a:endParaRPr lang="en-US"/>
        </a:p>
      </dgm:t>
    </dgm:pt>
    <dgm:pt modelId="{268DE8DE-AE86-477B-9605-51346A7971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Eggs</a:t>
          </a:r>
        </a:p>
      </dgm:t>
    </dgm:pt>
    <dgm:pt modelId="{2653A4C4-DD7E-43D6-99E0-77D704D0779B}" type="parTrans" cxnId="{DA819A00-CA33-403C-9564-0E0EB338271F}">
      <dgm:prSet/>
      <dgm:spPr/>
      <dgm:t>
        <a:bodyPr/>
        <a:lstStyle/>
        <a:p>
          <a:endParaRPr lang="en-US"/>
        </a:p>
      </dgm:t>
    </dgm:pt>
    <dgm:pt modelId="{1598C8EB-3973-48E9-85CC-15DAF14E7454}" type="sibTrans" cxnId="{DA819A00-CA33-403C-9564-0E0EB338271F}">
      <dgm:prSet/>
      <dgm:spPr/>
      <dgm:t>
        <a:bodyPr/>
        <a:lstStyle/>
        <a:p>
          <a:endParaRPr lang="en-US"/>
        </a:p>
      </dgm:t>
    </dgm:pt>
    <dgm:pt modelId="{B44F94DC-01DD-46BB-BF78-DCA40F798B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Milk</a:t>
          </a:r>
        </a:p>
      </dgm:t>
    </dgm:pt>
    <dgm:pt modelId="{D09ABFF0-DF88-4530-8B9F-24042607AEDA}" type="parTrans" cxnId="{E785C4CB-D31B-41AC-8A47-550E27DEC1CD}">
      <dgm:prSet/>
      <dgm:spPr/>
      <dgm:t>
        <a:bodyPr/>
        <a:lstStyle/>
        <a:p>
          <a:endParaRPr lang="en-US"/>
        </a:p>
      </dgm:t>
    </dgm:pt>
    <dgm:pt modelId="{79CFAFDB-FEE6-45DD-BA40-2EE056BFFBE6}" type="sibTrans" cxnId="{E785C4CB-D31B-41AC-8A47-550E27DEC1CD}">
      <dgm:prSet/>
      <dgm:spPr/>
      <dgm:t>
        <a:bodyPr/>
        <a:lstStyle/>
        <a:p>
          <a:endParaRPr lang="en-US"/>
        </a:p>
      </dgm:t>
    </dgm:pt>
    <dgm:pt modelId="{3946CF46-0317-4685-888D-5840CCCD6C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Airborne</a:t>
          </a:r>
        </a:p>
      </dgm:t>
    </dgm:pt>
    <dgm:pt modelId="{83AF3077-82A7-43F3-8884-4A75D5A8A42E}" type="parTrans" cxnId="{D38B6EBB-6482-4C65-BD7B-C80FA76F1DC8}">
      <dgm:prSet/>
      <dgm:spPr/>
      <dgm:t>
        <a:bodyPr/>
        <a:lstStyle/>
        <a:p>
          <a:endParaRPr lang="en-US"/>
        </a:p>
      </dgm:t>
    </dgm:pt>
    <dgm:pt modelId="{9252A70E-0A1D-4423-9C19-B894863F8D40}" type="sibTrans" cxnId="{D38B6EBB-6482-4C65-BD7B-C80FA76F1DC8}">
      <dgm:prSet/>
      <dgm:spPr/>
      <dgm:t>
        <a:bodyPr/>
        <a:lstStyle/>
        <a:p>
          <a:endParaRPr lang="en-US"/>
        </a:p>
      </dgm:t>
    </dgm:pt>
    <dgm:pt modelId="{9BD9066C-195F-4EBC-ADFA-19FDB7D429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Aquatic</a:t>
          </a:r>
        </a:p>
      </dgm:t>
    </dgm:pt>
    <dgm:pt modelId="{C6E88731-E90D-4A40-94C6-2FD795DA01EF}" type="parTrans" cxnId="{07C76375-0CA2-448E-87F8-5C250511C338}">
      <dgm:prSet/>
      <dgm:spPr/>
      <dgm:t>
        <a:bodyPr/>
        <a:lstStyle/>
        <a:p>
          <a:endParaRPr lang="en-US"/>
        </a:p>
      </dgm:t>
    </dgm:pt>
    <dgm:pt modelId="{C7117984-794C-4CE1-A82D-240952158CFF}" type="sibTrans" cxnId="{07C76375-0CA2-448E-87F8-5C250511C338}">
      <dgm:prSet/>
      <dgm:spPr/>
      <dgm:t>
        <a:bodyPr/>
        <a:lstStyle/>
        <a:p>
          <a:endParaRPr lang="en-US"/>
        </a:p>
      </dgm:t>
    </dgm:pt>
    <dgm:pt modelId="{2ADBCC28-84BB-4FDA-9319-83878DABF8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Predator</a:t>
          </a:r>
        </a:p>
      </dgm:t>
    </dgm:pt>
    <dgm:pt modelId="{9BFF2876-8D22-4F51-8EEB-238FADF5B270}" type="parTrans" cxnId="{96F4AA42-5A22-40CC-AD42-DB95BE80DB41}">
      <dgm:prSet/>
      <dgm:spPr/>
      <dgm:t>
        <a:bodyPr/>
        <a:lstStyle/>
        <a:p>
          <a:endParaRPr lang="en-US"/>
        </a:p>
      </dgm:t>
    </dgm:pt>
    <dgm:pt modelId="{333752D0-4D81-4C1D-BE9C-BF29D0090AF5}" type="sibTrans" cxnId="{96F4AA42-5A22-40CC-AD42-DB95BE80DB41}">
      <dgm:prSet/>
      <dgm:spPr/>
      <dgm:t>
        <a:bodyPr/>
        <a:lstStyle/>
        <a:p>
          <a:endParaRPr lang="en-US"/>
        </a:p>
      </dgm:t>
    </dgm:pt>
    <dgm:pt modelId="{791362B4-75E3-447E-9331-2BF2C34A7E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Toothed</a:t>
          </a:r>
        </a:p>
      </dgm:t>
    </dgm:pt>
    <dgm:pt modelId="{D35A9609-9F15-46BF-BC4E-3133BDC64B79}" type="parTrans" cxnId="{1B309785-CA20-4C9B-9A1E-A417AFB67BB9}">
      <dgm:prSet/>
      <dgm:spPr/>
      <dgm:t>
        <a:bodyPr/>
        <a:lstStyle/>
        <a:p>
          <a:endParaRPr lang="en-US"/>
        </a:p>
      </dgm:t>
    </dgm:pt>
    <dgm:pt modelId="{DA7ED47C-CD8D-451B-8499-B1FD8C4CABB1}" type="sibTrans" cxnId="{1B309785-CA20-4C9B-9A1E-A417AFB67BB9}">
      <dgm:prSet/>
      <dgm:spPr/>
      <dgm:t>
        <a:bodyPr/>
        <a:lstStyle/>
        <a:p>
          <a:endParaRPr lang="en-US"/>
        </a:p>
      </dgm:t>
    </dgm:pt>
    <dgm:pt modelId="{14E36CCA-938A-4203-9CAD-A9AD6B00C569}" type="pres">
      <dgm:prSet presAssocID="{C0126F6B-FD7F-4324-A0CA-A114ACA7B45A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8F9FBF0-44D4-4728-B95E-5CE4A73821BE}" type="pres">
      <dgm:prSet presAssocID="{14803A35-8BF2-4B54-A275-05C5508D022A}" presName="compNode" presStyleCnt="0"/>
      <dgm:spPr/>
    </dgm:pt>
    <dgm:pt modelId="{1F18785B-6B0B-4250-8B09-DB6CCBAA8214}" type="pres">
      <dgm:prSet presAssocID="{14803A35-8BF2-4B54-A275-05C5508D022A}" presName="bgRect" presStyleLbl="bgShp" presStyleIdx="0" presStyleCnt="8"/>
      <dgm:spPr/>
    </dgm:pt>
    <dgm:pt modelId="{4B847FA3-41CA-4063-933A-E601BF43104C}" type="pres">
      <dgm:prSet presAssocID="{14803A35-8BF2-4B54-A275-05C5508D022A}" presName="iconRect" presStyleLbl="node1" presStyleIdx="0" presStyleCnt="8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Moustache"/>
        </a:ext>
      </dgm:extLst>
    </dgm:pt>
    <dgm:pt modelId="{0738AA4E-AE3E-4663-83F2-781D20E7E7A8}" type="pres">
      <dgm:prSet presAssocID="{14803A35-8BF2-4B54-A275-05C5508D022A}" presName="spaceRect" presStyleCnt="0"/>
      <dgm:spPr/>
    </dgm:pt>
    <dgm:pt modelId="{DCA72DB2-1AF9-4757-8D12-1E87666325B3}" type="pres">
      <dgm:prSet presAssocID="{14803A35-8BF2-4B54-A275-05C5508D022A}" presName="parTx" presStyleLbl="revTx" presStyleIdx="0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C055ADE-1A97-41E8-88F6-D3C1A61CC7F7}" type="pres">
      <dgm:prSet presAssocID="{C610608F-88D6-460E-8F1B-6001C6E0770C}" presName="sibTrans" presStyleCnt="0"/>
      <dgm:spPr/>
    </dgm:pt>
    <dgm:pt modelId="{FF3F9238-CE8F-40D4-A49B-F043F2C6601B}" type="pres">
      <dgm:prSet presAssocID="{A34D0760-2C76-41B6-AEF1-6D4C13029803}" presName="compNode" presStyleCnt="0"/>
      <dgm:spPr/>
    </dgm:pt>
    <dgm:pt modelId="{BE453998-DC3C-4480-8D54-459669758C98}" type="pres">
      <dgm:prSet presAssocID="{A34D0760-2C76-41B6-AEF1-6D4C13029803}" presName="bgRect" presStyleLbl="bgShp" presStyleIdx="1" presStyleCnt="8"/>
      <dgm:spPr/>
    </dgm:pt>
    <dgm:pt modelId="{C72C98BC-0DEF-4651-A368-5D9E74D1EC35}" type="pres">
      <dgm:prSet presAssocID="{A34D0760-2C76-41B6-AEF1-6D4C13029803}" presName="iconRect" presStyleLbl="node1" presStyleIdx="1" presStyleCnt="8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Peacock"/>
        </a:ext>
      </dgm:extLst>
    </dgm:pt>
    <dgm:pt modelId="{07BC37C6-7DEA-4D86-A650-D9B96F3FF14E}" type="pres">
      <dgm:prSet presAssocID="{A34D0760-2C76-41B6-AEF1-6D4C13029803}" presName="spaceRect" presStyleCnt="0"/>
      <dgm:spPr/>
    </dgm:pt>
    <dgm:pt modelId="{E6A9ABE2-0663-4D65-A21C-A9CAEECAE34B}" type="pres">
      <dgm:prSet presAssocID="{A34D0760-2C76-41B6-AEF1-6D4C13029803}" presName="parTx" presStyleLbl="revTx" presStyleIdx="1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0D37AD6-2B49-4E7B-8517-BEE6357F4C7D}" type="pres">
      <dgm:prSet presAssocID="{6D3BB625-C952-4755-944F-4637E1DC6C9D}" presName="sibTrans" presStyleCnt="0"/>
      <dgm:spPr/>
    </dgm:pt>
    <dgm:pt modelId="{2258E433-16A7-417C-9978-68A5CD909445}" type="pres">
      <dgm:prSet presAssocID="{268DE8DE-AE86-477B-9605-51346A797110}" presName="compNode" presStyleCnt="0"/>
      <dgm:spPr/>
    </dgm:pt>
    <dgm:pt modelId="{35C52853-EA26-4DA3-90D4-5DA726B07790}" type="pres">
      <dgm:prSet presAssocID="{268DE8DE-AE86-477B-9605-51346A797110}" presName="bgRect" presStyleLbl="bgShp" presStyleIdx="2" presStyleCnt="8"/>
      <dgm:spPr/>
    </dgm:pt>
    <dgm:pt modelId="{4B314A02-39B0-4BF1-B9F3-2DFAA53D4CB2}" type="pres">
      <dgm:prSet presAssocID="{268DE8DE-AE86-477B-9605-51346A797110}" presName="iconRect" presStyleLbl="node1" presStyleIdx="2" presStyleCnt="8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Eggs In Basket"/>
        </a:ext>
      </dgm:extLst>
    </dgm:pt>
    <dgm:pt modelId="{BE18B7BD-5E62-4A24-AC48-44BF83ADC613}" type="pres">
      <dgm:prSet presAssocID="{268DE8DE-AE86-477B-9605-51346A797110}" presName="spaceRect" presStyleCnt="0"/>
      <dgm:spPr/>
    </dgm:pt>
    <dgm:pt modelId="{1D0C2864-5D89-4865-8BC9-178369543B00}" type="pres">
      <dgm:prSet presAssocID="{268DE8DE-AE86-477B-9605-51346A797110}" presName="parTx" presStyleLbl="revTx" presStyleIdx="2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3E833DD8-2EE3-4C12-A245-CA7F41BC3E50}" type="pres">
      <dgm:prSet presAssocID="{1598C8EB-3973-48E9-85CC-15DAF14E7454}" presName="sibTrans" presStyleCnt="0"/>
      <dgm:spPr/>
    </dgm:pt>
    <dgm:pt modelId="{5F674EAE-3B0E-4AC1-818B-0245149C2BD0}" type="pres">
      <dgm:prSet presAssocID="{B44F94DC-01DD-46BB-BF78-DCA40F798B5D}" presName="compNode" presStyleCnt="0"/>
      <dgm:spPr/>
    </dgm:pt>
    <dgm:pt modelId="{E55358BD-FAF4-4B1F-97B8-D450A6E51237}" type="pres">
      <dgm:prSet presAssocID="{B44F94DC-01DD-46BB-BF78-DCA40F798B5D}" presName="bgRect" presStyleLbl="bgShp" presStyleIdx="3" presStyleCnt="8"/>
      <dgm:spPr/>
    </dgm:pt>
    <dgm:pt modelId="{97069D76-B66C-4C24-9EB9-6834D81031F3}" type="pres">
      <dgm:prSet presAssocID="{B44F94DC-01DD-46BB-BF78-DCA40F798B5D}" presName="iconRect" presStyleLbl="node1" presStyleIdx="3" presStyleCnt="8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ow"/>
        </a:ext>
      </dgm:extLst>
    </dgm:pt>
    <dgm:pt modelId="{479231F6-CE2A-44C8-9C68-0B8536E390AE}" type="pres">
      <dgm:prSet presAssocID="{B44F94DC-01DD-46BB-BF78-DCA40F798B5D}" presName="spaceRect" presStyleCnt="0"/>
      <dgm:spPr/>
    </dgm:pt>
    <dgm:pt modelId="{0133EA46-5E4B-4EDD-B9C3-AD239642C5E2}" type="pres">
      <dgm:prSet presAssocID="{B44F94DC-01DD-46BB-BF78-DCA40F798B5D}" presName="parTx" presStyleLbl="revTx" presStyleIdx="3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5E6508C-46EB-4B7F-AA24-B7ED30D926FC}" type="pres">
      <dgm:prSet presAssocID="{79CFAFDB-FEE6-45DD-BA40-2EE056BFFBE6}" presName="sibTrans" presStyleCnt="0"/>
      <dgm:spPr/>
    </dgm:pt>
    <dgm:pt modelId="{A213BB55-4B21-4CF9-8500-723601E7631A}" type="pres">
      <dgm:prSet presAssocID="{3946CF46-0317-4685-888D-5840CCCD6C69}" presName="compNode" presStyleCnt="0"/>
      <dgm:spPr/>
    </dgm:pt>
    <dgm:pt modelId="{99041362-730F-4A9A-823D-385C6993036E}" type="pres">
      <dgm:prSet presAssocID="{3946CF46-0317-4685-888D-5840CCCD6C69}" presName="bgRect" presStyleLbl="bgShp" presStyleIdx="4" presStyleCnt="8"/>
      <dgm:spPr/>
    </dgm:pt>
    <dgm:pt modelId="{D26CCCA0-66C8-4C12-A7D9-A3B4A528A696}" type="pres">
      <dgm:prSet presAssocID="{3946CF46-0317-4685-888D-5840CCCD6C69}" presName="iconRect" presStyleLbl="node1" presStyleIdx="4" presStyleCnt="8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D8E0E055-B189-4A99-A6C1-EEBA167C73D9}" type="pres">
      <dgm:prSet presAssocID="{3946CF46-0317-4685-888D-5840CCCD6C69}" presName="spaceRect" presStyleCnt="0"/>
      <dgm:spPr/>
    </dgm:pt>
    <dgm:pt modelId="{76EE8B94-3502-4C8F-B669-28A085B14FEF}" type="pres">
      <dgm:prSet presAssocID="{3946CF46-0317-4685-888D-5840CCCD6C69}" presName="parTx" presStyleLbl="revTx" presStyleIdx="4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DAEF180-A88F-41E6-AD5C-DB1EAABA21B2}" type="pres">
      <dgm:prSet presAssocID="{9252A70E-0A1D-4423-9C19-B894863F8D40}" presName="sibTrans" presStyleCnt="0"/>
      <dgm:spPr/>
    </dgm:pt>
    <dgm:pt modelId="{13ECD4FD-D074-4113-973D-59B2A57055BD}" type="pres">
      <dgm:prSet presAssocID="{9BD9066C-195F-4EBC-ADFA-19FDB7D429B4}" presName="compNode" presStyleCnt="0"/>
      <dgm:spPr/>
    </dgm:pt>
    <dgm:pt modelId="{AA785E62-BA64-42A8-B342-D2345542B015}" type="pres">
      <dgm:prSet presAssocID="{9BD9066C-195F-4EBC-ADFA-19FDB7D429B4}" presName="bgRect" presStyleLbl="bgShp" presStyleIdx="5" presStyleCnt="8"/>
      <dgm:spPr/>
    </dgm:pt>
    <dgm:pt modelId="{ED99E6C6-154D-421E-9BF1-E6823A12AAC2}" type="pres">
      <dgm:prSet presAssocID="{9BD9066C-195F-4EBC-ADFA-19FDB7D429B4}" presName="iconRect" presStyleLbl="node1" presStyleIdx="5" presStyleCnt="8"/>
      <dgm:spPr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hark"/>
        </a:ext>
      </dgm:extLst>
    </dgm:pt>
    <dgm:pt modelId="{A7F2FD9F-B035-4329-B9C4-1C302366915D}" type="pres">
      <dgm:prSet presAssocID="{9BD9066C-195F-4EBC-ADFA-19FDB7D429B4}" presName="spaceRect" presStyleCnt="0"/>
      <dgm:spPr/>
    </dgm:pt>
    <dgm:pt modelId="{C2DBAA9B-5244-46A2-9DDD-FB5C980AF6D1}" type="pres">
      <dgm:prSet presAssocID="{9BD9066C-195F-4EBC-ADFA-19FDB7D429B4}" presName="parTx" presStyleLbl="revTx" presStyleIdx="5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ED84D3B-6E66-4819-9AB3-0A383F73F5A6}" type="pres">
      <dgm:prSet presAssocID="{C7117984-794C-4CE1-A82D-240952158CFF}" presName="sibTrans" presStyleCnt="0"/>
      <dgm:spPr/>
    </dgm:pt>
    <dgm:pt modelId="{DCFF6F3D-6DF5-4A26-9EF0-4A9901389B44}" type="pres">
      <dgm:prSet presAssocID="{2ADBCC28-84BB-4FDA-9319-83878DABF8C8}" presName="compNode" presStyleCnt="0"/>
      <dgm:spPr/>
    </dgm:pt>
    <dgm:pt modelId="{E6AE3F8B-4E81-4AD2-8774-D7FD2CCB3161}" type="pres">
      <dgm:prSet presAssocID="{2ADBCC28-84BB-4FDA-9319-83878DABF8C8}" presName="bgRect" presStyleLbl="bgShp" presStyleIdx="6" presStyleCnt="8"/>
      <dgm:spPr/>
    </dgm:pt>
    <dgm:pt modelId="{839871CA-DA89-4D2A-8B45-CBBE625FE07F}" type="pres">
      <dgm:prSet presAssocID="{2ADBCC28-84BB-4FDA-9319-83878DABF8C8}" presName="iconRect" presStyleLbl="node1" presStyleIdx="6" presStyleCnt="8"/>
      <dgm:spPr>
        <a:blipFill>
          <a:blip xmlns:r="http://schemas.openxmlformats.org/officeDocument/2006/relationships"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rocodile"/>
        </a:ext>
      </dgm:extLst>
    </dgm:pt>
    <dgm:pt modelId="{35682F84-0EE2-41ED-9FF3-791AF794C71B}" type="pres">
      <dgm:prSet presAssocID="{2ADBCC28-84BB-4FDA-9319-83878DABF8C8}" presName="spaceRect" presStyleCnt="0"/>
      <dgm:spPr/>
    </dgm:pt>
    <dgm:pt modelId="{91320EC5-D1C5-4789-B132-E27AE2426A7B}" type="pres">
      <dgm:prSet presAssocID="{2ADBCC28-84BB-4FDA-9319-83878DABF8C8}" presName="parTx" presStyleLbl="revTx" presStyleIdx="6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ACD9976E-2733-4657-A127-C5BA383E0B23}" type="pres">
      <dgm:prSet presAssocID="{333752D0-4D81-4C1D-BE9C-BF29D0090AF5}" presName="sibTrans" presStyleCnt="0"/>
      <dgm:spPr/>
    </dgm:pt>
    <dgm:pt modelId="{78D98467-4F5D-4CB4-92BC-B37BF161E944}" type="pres">
      <dgm:prSet presAssocID="{791362B4-75E3-447E-9331-2BF2C34A7E1B}" presName="compNode" presStyleCnt="0"/>
      <dgm:spPr/>
    </dgm:pt>
    <dgm:pt modelId="{09AEB21D-4079-4C52-9014-5EC3E0D01CEB}" type="pres">
      <dgm:prSet presAssocID="{791362B4-75E3-447E-9331-2BF2C34A7E1B}" presName="bgRect" presStyleLbl="bgShp" presStyleIdx="7" presStyleCnt="8"/>
      <dgm:spPr/>
    </dgm:pt>
    <dgm:pt modelId="{FD8A65F0-7F08-4243-A52D-4F972AA0ECCF}" type="pres">
      <dgm:prSet presAssocID="{791362B4-75E3-447E-9331-2BF2C34A7E1B}" presName="iconRect" presStyleLbl="node1" presStyleIdx="7" presStyleCnt="8"/>
      <dgm:spPr>
        <a:blipFill>
          <a:blip xmlns:r="http://schemas.openxmlformats.org/officeDocument/2006/relationships"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Tooth"/>
        </a:ext>
      </dgm:extLst>
    </dgm:pt>
    <dgm:pt modelId="{3E488AD6-0D19-4B92-A3FF-3EF4E3B123F0}" type="pres">
      <dgm:prSet presAssocID="{791362B4-75E3-447E-9331-2BF2C34A7E1B}" presName="spaceRect" presStyleCnt="0"/>
      <dgm:spPr/>
    </dgm:pt>
    <dgm:pt modelId="{932B64B6-C774-42E8-9CEA-B6D21194C4EF}" type="pres">
      <dgm:prSet presAssocID="{791362B4-75E3-447E-9331-2BF2C34A7E1B}" presName="parTx" presStyleLbl="revTx" presStyleIdx="7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F1581AE2-20A6-49E7-A480-2BF83E3C4FCB}" type="presOf" srcId="{2ADBCC28-84BB-4FDA-9319-83878DABF8C8}" destId="{91320EC5-D1C5-4789-B132-E27AE2426A7B}" srcOrd="0" destOrd="0" presId="urn:microsoft.com/office/officeart/2018/2/layout/IconVerticalSolidList"/>
    <dgm:cxn modelId="{A924B224-E6ED-40D0-BECA-DFF8F7E60C95}" type="presOf" srcId="{B44F94DC-01DD-46BB-BF78-DCA40F798B5D}" destId="{0133EA46-5E4B-4EDD-B9C3-AD239642C5E2}" srcOrd="0" destOrd="0" presId="urn:microsoft.com/office/officeart/2018/2/layout/IconVerticalSolidList"/>
    <dgm:cxn modelId="{D38B6EBB-6482-4C65-BD7B-C80FA76F1DC8}" srcId="{C0126F6B-FD7F-4324-A0CA-A114ACA7B45A}" destId="{3946CF46-0317-4685-888D-5840CCCD6C69}" srcOrd="4" destOrd="0" parTransId="{83AF3077-82A7-43F3-8884-4A75D5A8A42E}" sibTransId="{9252A70E-0A1D-4423-9C19-B894863F8D40}"/>
    <dgm:cxn modelId="{3D6EEFD2-4D88-469F-A609-2CCD51EE773B}" type="presOf" srcId="{9BD9066C-195F-4EBC-ADFA-19FDB7D429B4}" destId="{C2DBAA9B-5244-46A2-9DDD-FB5C980AF6D1}" srcOrd="0" destOrd="0" presId="urn:microsoft.com/office/officeart/2018/2/layout/IconVerticalSolidList"/>
    <dgm:cxn modelId="{93C0FED0-A2E5-4088-AF3C-9D042F67387D}" type="presOf" srcId="{C0126F6B-FD7F-4324-A0CA-A114ACA7B45A}" destId="{14E36CCA-938A-4203-9CAD-A9AD6B00C569}" srcOrd="0" destOrd="0" presId="urn:microsoft.com/office/officeart/2018/2/layout/IconVerticalSolidList"/>
    <dgm:cxn modelId="{F54C3D55-9C00-4566-80A0-9F2584EEAA50}" srcId="{C0126F6B-FD7F-4324-A0CA-A114ACA7B45A}" destId="{14803A35-8BF2-4B54-A275-05C5508D022A}" srcOrd="0" destOrd="0" parTransId="{79C68EED-A0C1-4E63-AA6F-726B010388AE}" sibTransId="{C610608F-88D6-460E-8F1B-6001C6E0770C}"/>
    <dgm:cxn modelId="{E785C4CB-D31B-41AC-8A47-550E27DEC1CD}" srcId="{C0126F6B-FD7F-4324-A0CA-A114ACA7B45A}" destId="{B44F94DC-01DD-46BB-BF78-DCA40F798B5D}" srcOrd="3" destOrd="0" parTransId="{D09ABFF0-DF88-4530-8B9F-24042607AEDA}" sibTransId="{79CFAFDB-FEE6-45DD-BA40-2EE056BFFBE6}"/>
    <dgm:cxn modelId="{0B0C141B-8572-4305-AA33-0384EE5DE4D5}" type="presOf" srcId="{3946CF46-0317-4685-888D-5840CCCD6C69}" destId="{76EE8B94-3502-4C8F-B669-28A085B14FEF}" srcOrd="0" destOrd="0" presId="urn:microsoft.com/office/officeart/2018/2/layout/IconVerticalSolidList"/>
    <dgm:cxn modelId="{FC3387E5-D7B9-4298-AB11-47685DE4F8C4}" srcId="{C0126F6B-FD7F-4324-A0CA-A114ACA7B45A}" destId="{A34D0760-2C76-41B6-AEF1-6D4C13029803}" srcOrd="1" destOrd="0" parTransId="{8EF70572-5F9F-450A-9653-89A4EC037B97}" sibTransId="{6D3BB625-C952-4755-944F-4637E1DC6C9D}"/>
    <dgm:cxn modelId="{07C76375-0CA2-448E-87F8-5C250511C338}" srcId="{C0126F6B-FD7F-4324-A0CA-A114ACA7B45A}" destId="{9BD9066C-195F-4EBC-ADFA-19FDB7D429B4}" srcOrd="5" destOrd="0" parTransId="{C6E88731-E90D-4A40-94C6-2FD795DA01EF}" sibTransId="{C7117984-794C-4CE1-A82D-240952158CFF}"/>
    <dgm:cxn modelId="{96F4AA42-5A22-40CC-AD42-DB95BE80DB41}" srcId="{C0126F6B-FD7F-4324-A0CA-A114ACA7B45A}" destId="{2ADBCC28-84BB-4FDA-9319-83878DABF8C8}" srcOrd="6" destOrd="0" parTransId="{9BFF2876-8D22-4F51-8EEB-238FADF5B270}" sibTransId="{333752D0-4D81-4C1D-BE9C-BF29D0090AF5}"/>
    <dgm:cxn modelId="{1E5B8486-FBC0-4F19-BBB7-24729522CE8A}" type="presOf" srcId="{A34D0760-2C76-41B6-AEF1-6D4C13029803}" destId="{E6A9ABE2-0663-4D65-A21C-A9CAEECAE34B}" srcOrd="0" destOrd="0" presId="urn:microsoft.com/office/officeart/2018/2/layout/IconVerticalSolidList"/>
    <dgm:cxn modelId="{F00127E7-E43C-461F-8E3E-C9186B31A74F}" type="presOf" srcId="{14803A35-8BF2-4B54-A275-05C5508D022A}" destId="{DCA72DB2-1AF9-4757-8D12-1E87666325B3}" srcOrd="0" destOrd="0" presId="urn:microsoft.com/office/officeart/2018/2/layout/IconVerticalSolidList"/>
    <dgm:cxn modelId="{DA819A00-CA33-403C-9564-0E0EB338271F}" srcId="{C0126F6B-FD7F-4324-A0CA-A114ACA7B45A}" destId="{268DE8DE-AE86-477B-9605-51346A797110}" srcOrd="2" destOrd="0" parTransId="{2653A4C4-DD7E-43D6-99E0-77D704D0779B}" sibTransId="{1598C8EB-3973-48E9-85CC-15DAF14E7454}"/>
    <dgm:cxn modelId="{727ED21D-478A-475C-9EB8-C57181DC2730}" type="presOf" srcId="{791362B4-75E3-447E-9331-2BF2C34A7E1B}" destId="{932B64B6-C774-42E8-9CEA-B6D21194C4EF}" srcOrd="0" destOrd="0" presId="urn:microsoft.com/office/officeart/2018/2/layout/IconVerticalSolidList"/>
    <dgm:cxn modelId="{8BED0C5D-A7EF-4CDE-9CB9-5544F248324D}" type="presOf" srcId="{268DE8DE-AE86-477B-9605-51346A797110}" destId="{1D0C2864-5D89-4865-8BC9-178369543B00}" srcOrd="0" destOrd="0" presId="urn:microsoft.com/office/officeart/2018/2/layout/IconVerticalSolidList"/>
    <dgm:cxn modelId="{1B309785-CA20-4C9B-9A1E-A417AFB67BB9}" srcId="{C0126F6B-FD7F-4324-A0CA-A114ACA7B45A}" destId="{791362B4-75E3-447E-9331-2BF2C34A7E1B}" srcOrd="7" destOrd="0" parTransId="{D35A9609-9F15-46BF-BC4E-3133BDC64B79}" sibTransId="{DA7ED47C-CD8D-451B-8499-B1FD8C4CABB1}"/>
    <dgm:cxn modelId="{EE83743B-D045-4FFE-81E4-EEC7CDD4B5E8}" type="presParOf" srcId="{14E36CCA-938A-4203-9CAD-A9AD6B00C569}" destId="{68F9FBF0-44D4-4728-B95E-5CE4A73821BE}" srcOrd="0" destOrd="0" presId="urn:microsoft.com/office/officeart/2018/2/layout/IconVerticalSolidList"/>
    <dgm:cxn modelId="{3E4E2C31-4718-4E03-8B2D-EB43A3DF7234}" type="presParOf" srcId="{68F9FBF0-44D4-4728-B95E-5CE4A73821BE}" destId="{1F18785B-6B0B-4250-8B09-DB6CCBAA8214}" srcOrd="0" destOrd="0" presId="urn:microsoft.com/office/officeart/2018/2/layout/IconVerticalSolidList"/>
    <dgm:cxn modelId="{A414148F-290B-4CF5-835F-AEADF27DC19B}" type="presParOf" srcId="{68F9FBF0-44D4-4728-B95E-5CE4A73821BE}" destId="{4B847FA3-41CA-4063-933A-E601BF43104C}" srcOrd="1" destOrd="0" presId="urn:microsoft.com/office/officeart/2018/2/layout/IconVerticalSolidList"/>
    <dgm:cxn modelId="{D59BDAC8-9166-484D-8C74-A240E713D84F}" type="presParOf" srcId="{68F9FBF0-44D4-4728-B95E-5CE4A73821BE}" destId="{0738AA4E-AE3E-4663-83F2-781D20E7E7A8}" srcOrd="2" destOrd="0" presId="urn:microsoft.com/office/officeart/2018/2/layout/IconVerticalSolidList"/>
    <dgm:cxn modelId="{D7B9EBFF-E404-4B6D-AC8B-221DAC64BE67}" type="presParOf" srcId="{68F9FBF0-44D4-4728-B95E-5CE4A73821BE}" destId="{DCA72DB2-1AF9-4757-8D12-1E87666325B3}" srcOrd="3" destOrd="0" presId="urn:microsoft.com/office/officeart/2018/2/layout/IconVerticalSolidList"/>
    <dgm:cxn modelId="{809F97AD-2EB3-423E-8299-BC17845CAE08}" type="presParOf" srcId="{14E36CCA-938A-4203-9CAD-A9AD6B00C569}" destId="{DC055ADE-1A97-41E8-88F6-D3C1A61CC7F7}" srcOrd="1" destOrd="0" presId="urn:microsoft.com/office/officeart/2018/2/layout/IconVerticalSolidList"/>
    <dgm:cxn modelId="{89AA1926-DD2C-4471-8D68-82F2F16C27C6}" type="presParOf" srcId="{14E36CCA-938A-4203-9CAD-A9AD6B00C569}" destId="{FF3F9238-CE8F-40D4-A49B-F043F2C6601B}" srcOrd="2" destOrd="0" presId="urn:microsoft.com/office/officeart/2018/2/layout/IconVerticalSolidList"/>
    <dgm:cxn modelId="{FF8F22D2-60FF-4122-8608-F32984702F40}" type="presParOf" srcId="{FF3F9238-CE8F-40D4-A49B-F043F2C6601B}" destId="{BE453998-DC3C-4480-8D54-459669758C98}" srcOrd="0" destOrd="0" presId="urn:microsoft.com/office/officeart/2018/2/layout/IconVerticalSolidList"/>
    <dgm:cxn modelId="{CC15A1C8-B051-45C9-A131-343B7407B211}" type="presParOf" srcId="{FF3F9238-CE8F-40D4-A49B-F043F2C6601B}" destId="{C72C98BC-0DEF-4651-A368-5D9E74D1EC35}" srcOrd="1" destOrd="0" presId="urn:microsoft.com/office/officeart/2018/2/layout/IconVerticalSolidList"/>
    <dgm:cxn modelId="{C1B6C6BB-9DF2-4D96-B564-FA12AF1BFAE5}" type="presParOf" srcId="{FF3F9238-CE8F-40D4-A49B-F043F2C6601B}" destId="{07BC37C6-7DEA-4D86-A650-D9B96F3FF14E}" srcOrd="2" destOrd="0" presId="urn:microsoft.com/office/officeart/2018/2/layout/IconVerticalSolidList"/>
    <dgm:cxn modelId="{BDEC2CBB-31BA-4FD7-BCAA-9F800F455396}" type="presParOf" srcId="{FF3F9238-CE8F-40D4-A49B-F043F2C6601B}" destId="{E6A9ABE2-0663-4D65-A21C-A9CAEECAE34B}" srcOrd="3" destOrd="0" presId="urn:microsoft.com/office/officeart/2018/2/layout/IconVerticalSolidList"/>
    <dgm:cxn modelId="{FE37C386-D88D-402F-A4FE-D0E1D6F295F1}" type="presParOf" srcId="{14E36CCA-938A-4203-9CAD-A9AD6B00C569}" destId="{20D37AD6-2B49-4E7B-8517-BEE6357F4C7D}" srcOrd="3" destOrd="0" presId="urn:microsoft.com/office/officeart/2018/2/layout/IconVerticalSolidList"/>
    <dgm:cxn modelId="{16EB6C17-D619-4E21-B5CE-8EE57B43ACF4}" type="presParOf" srcId="{14E36CCA-938A-4203-9CAD-A9AD6B00C569}" destId="{2258E433-16A7-417C-9978-68A5CD909445}" srcOrd="4" destOrd="0" presId="urn:microsoft.com/office/officeart/2018/2/layout/IconVerticalSolidList"/>
    <dgm:cxn modelId="{D3D34D2E-5187-4E83-9F94-DB98B48673B5}" type="presParOf" srcId="{2258E433-16A7-417C-9978-68A5CD909445}" destId="{35C52853-EA26-4DA3-90D4-5DA726B07790}" srcOrd="0" destOrd="0" presId="urn:microsoft.com/office/officeart/2018/2/layout/IconVerticalSolidList"/>
    <dgm:cxn modelId="{8CD8C231-B603-4DBE-A31C-7CD5B3C264E4}" type="presParOf" srcId="{2258E433-16A7-417C-9978-68A5CD909445}" destId="{4B314A02-39B0-4BF1-B9F3-2DFAA53D4CB2}" srcOrd="1" destOrd="0" presId="urn:microsoft.com/office/officeart/2018/2/layout/IconVerticalSolidList"/>
    <dgm:cxn modelId="{77CD762D-B87E-4123-B9C7-77F1E027A2D5}" type="presParOf" srcId="{2258E433-16A7-417C-9978-68A5CD909445}" destId="{BE18B7BD-5E62-4A24-AC48-44BF83ADC613}" srcOrd="2" destOrd="0" presId="urn:microsoft.com/office/officeart/2018/2/layout/IconVerticalSolidList"/>
    <dgm:cxn modelId="{13547F45-CD8C-40D7-B19C-24A300741A9D}" type="presParOf" srcId="{2258E433-16A7-417C-9978-68A5CD909445}" destId="{1D0C2864-5D89-4865-8BC9-178369543B00}" srcOrd="3" destOrd="0" presId="urn:microsoft.com/office/officeart/2018/2/layout/IconVerticalSolidList"/>
    <dgm:cxn modelId="{5D04E558-565E-4276-91D6-45B675D5FB79}" type="presParOf" srcId="{14E36CCA-938A-4203-9CAD-A9AD6B00C569}" destId="{3E833DD8-2EE3-4C12-A245-CA7F41BC3E50}" srcOrd="5" destOrd="0" presId="urn:microsoft.com/office/officeart/2018/2/layout/IconVerticalSolidList"/>
    <dgm:cxn modelId="{BECB5BCC-250E-4A80-8709-A2AD4B89C1FF}" type="presParOf" srcId="{14E36CCA-938A-4203-9CAD-A9AD6B00C569}" destId="{5F674EAE-3B0E-4AC1-818B-0245149C2BD0}" srcOrd="6" destOrd="0" presId="urn:microsoft.com/office/officeart/2018/2/layout/IconVerticalSolidList"/>
    <dgm:cxn modelId="{BD0F1D2E-D410-4EEF-A0C3-B0D1BB534ECB}" type="presParOf" srcId="{5F674EAE-3B0E-4AC1-818B-0245149C2BD0}" destId="{E55358BD-FAF4-4B1F-97B8-D450A6E51237}" srcOrd="0" destOrd="0" presId="urn:microsoft.com/office/officeart/2018/2/layout/IconVerticalSolidList"/>
    <dgm:cxn modelId="{882176D0-F040-47D7-B436-199EA3AF20DE}" type="presParOf" srcId="{5F674EAE-3B0E-4AC1-818B-0245149C2BD0}" destId="{97069D76-B66C-4C24-9EB9-6834D81031F3}" srcOrd="1" destOrd="0" presId="urn:microsoft.com/office/officeart/2018/2/layout/IconVerticalSolidList"/>
    <dgm:cxn modelId="{B90B6FC2-C960-48D0-B958-77BE5D301881}" type="presParOf" srcId="{5F674EAE-3B0E-4AC1-818B-0245149C2BD0}" destId="{479231F6-CE2A-44C8-9C68-0B8536E390AE}" srcOrd="2" destOrd="0" presId="urn:microsoft.com/office/officeart/2018/2/layout/IconVerticalSolidList"/>
    <dgm:cxn modelId="{E3DBE8DE-9650-4CC0-849C-69E538EB3E90}" type="presParOf" srcId="{5F674EAE-3B0E-4AC1-818B-0245149C2BD0}" destId="{0133EA46-5E4B-4EDD-B9C3-AD239642C5E2}" srcOrd="3" destOrd="0" presId="urn:microsoft.com/office/officeart/2018/2/layout/IconVerticalSolidList"/>
    <dgm:cxn modelId="{8169B2C6-D218-41DE-B815-CEF66F85560D}" type="presParOf" srcId="{14E36CCA-938A-4203-9CAD-A9AD6B00C569}" destId="{25E6508C-46EB-4B7F-AA24-B7ED30D926FC}" srcOrd="7" destOrd="0" presId="urn:microsoft.com/office/officeart/2018/2/layout/IconVerticalSolidList"/>
    <dgm:cxn modelId="{5DD7B0C0-2F99-4BD6-BD3C-C01FB94CF489}" type="presParOf" srcId="{14E36CCA-938A-4203-9CAD-A9AD6B00C569}" destId="{A213BB55-4B21-4CF9-8500-723601E7631A}" srcOrd="8" destOrd="0" presId="urn:microsoft.com/office/officeart/2018/2/layout/IconVerticalSolidList"/>
    <dgm:cxn modelId="{8BAB2D1E-892A-4414-A228-42A05ABD9440}" type="presParOf" srcId="{A213BB55-4B21-4CF9-8500-723601E7631A}" destId="{99041362-730F-4A9A-823D-385C6993036E}" srcOrd="0" destOrd="0" presId="urn:microsoft.com/office/officeart/2018/2/layout/IconVerticalSolidList"/>
    <dgm:cxn modelId="{A8BB7947-9206-4D66-91C4-F2A1345703D8}" type="presParOf" srcId="{A213BB55-4B21-4CF9-8500-723601E7631A}" destId="{D26CCCA0-66C8-4C12-A7D9-A3B4A528A696}" srcOrd="1" destOrd="0" presId="urn:microsoft.com/office/officeart/2018/2/layout/IconVerticalSolidList"/>
    <dgm:cxn modelId="{B1DD2B73-F53E-4C45-802D-FFC53D7A66F6}" type="presParOf" srcId="{A213BB55-4B21-4CF9-8500-723601E7631A}" destId="{D8E0E055-B189-4A99-A6C1-EEBA167C73D9}" srcOrd="2" destOrd="0" presId="urn:microsoft.com/office/officeart/2018/2/layout/IconVerticalSolidList"/>
    <dgm:cxn modelId="{EDDF45DA-1B3E-404E-B48F-153C5F956FAE}" type="presParOf" srcId="{A213BB55-4B21-4CF9-8500-723601E7631A}" destId="{76EE8B94-3502-4C8F-B669-28A085B14FEF}" srcOrd="3" destOrd="0" presId="urn:microsoft.com/office/officeart/2018/2/layout/IconVerticalSolidList"/>
    <dgm:cxn modelId="{3FCAEBA6-6F93-440D-AB4E-CE4BF69E2654}" type="presParOf" srcId="{14E36CCA-938A-4203-9CAD-A9AD6B00C569}" destId="{9DAEF180-A88F-41E6-AD5C-DB1EAABA21B2}" srcOrd="9" destOrd="0" presId="urn:microsoft.com/office/officeart/2018/2/layout/IconVerticalSolidList"/>
    <dgm:cxn modelId="{9DED52D8-14A7-4630-B120-B9E41A9E5FD3}" type="presParOf" srcId="{14E36CCA-938A-4203-9CAD-A9AD6B00C569}" destId="{13ECD4FD-D074-4113-973D-59B2A57055BD}" srcOrd="10" destOrd="0" presId="urn:microsoft.com/office/officeart/2018/2/layout/IconVerticalSolidList"/>
    <dgm:cxn modelId="{CF0A66EA-FD43-489D-A73B-32E728A5DD0E}" type="presParOf" srcId="{13ECD4FD-D074-4113-973D-59B2A57055BD}" destId="{AA785E62-BA64-42A8-B342-D2345542B015}" srcOrd="0" destOrd="0" presId="urn:microsoft.com/office/officeart/2018/2/layout/IconVerticalSolidList"/>
    <dgm:cxn modelId="{BA966391-7721-43F0-880A-BC756A7DBD93}" type="presParOf" srcId="{13ECD4FD-D074-4113-973D-59B2A57055BD}" destId="{ED99E6C6-154D-421E-9BF1-E6823A12AAC2}" srcOrd="1" destOrd="0" presId="urn:microsoft.com/office/officeart/2018/2/layout/IconVerticalSolidList"/>
    <dgm:cxn modelId="{6A52B8E4-5506-4E2B-9008-ADE45579C455}" type="presParOf" srcId="{13ECD4FD-D074-4113-973D-59B2A57055BD}" destId="{A7F2FD9F-B035-4329-B9C4-1C302366915D}" srcOrd="2" destOrd="0" presId="urn:microsoft.com/office/officeart/2018/2/layout/IconVerticalSolidList"/>
    <dgm:cxn modelId="{3EFE8C7E-BAF6-40EF-A043-79BF7FCD8E50}" type="presParOf" srcId="{13ECD4FD-D074-4113-973D-59B2A57055BD}" destId="{C2DBAA9B-5244-46A2-9DDD-FB5C980AF6D1}" srcOrd="3" destOrd="0" presId="urn:microsoft.com/office/officeart/2018/2/layout/IconVerticalSolidList"/>
    <dgm:cxn modelId="{DB69987B-BB17-4C38-B548-02592EFAF309}" type="presParOf" srcId="{14E36CCA-938A-4203-9CAD-A9AD6B00C569}" destId="{DED84D3B-6E66-4819-9AB3-0A383F73F5A6}" srcOrd="11" destOrd="0" presId="urn:microsoft.com/office/officeart/2018/2/layout/IconVerticalSolidList"/>
    <dgm:cxn modelId="{DA22435A-F72C-4F4A-A170-F86B5BE198F0}" type="presParOf" srcId="{14E36CCA-938A-4203-9CAD-A9AD6B00C569}" destId="{DCFF6F3D-6DF5-4A26-9EF0-4A9901389B44}" srcOrd="12" destOrd="0" presId="urn:microsoft.com/office/officeart/2018/2/layout/IconVerticalSolidList"/>
    <dgm:cxn modelId="{8A31A2AA-0243-474E-B664-B10ED3F42F60}" type="presParOf" srcId="{DCFF6F3D-6DF5-4A26-9EF0-4A9901389B44}" destId="{E6AE3F8B-4E81-4AD2-8774-D7FD2CCB3161}" srcOrd="0" destOrd="0" presId="urn:microsoft.com/office/officeart/2018/2/layout/IconVerticalSolidList"/>
    <dgm:cxn modelId="{4B30C798-AF79-4A33-B899-94F0A82D4BAF}" type="presParOf" srcId="{DCFF6F3D-6DF5-4A26-9EF0-4A9901389B44}" destId="{839871CA-DA89-4D2A-8B45-CBBE625FE07F}" srcOrd="1" destOrd="0" presId="urn:microsoft.com/office/officeart/2018/2/layout/IconVerticalSolidList"/>
    <dgm:cxn modelId="{F271257C-0B91-4333-9623-3F9E2E8EF730}" type="presParOf" srcId="{DCFF6F3D-6DF5-4A26-9EF0-4A9901389B44}" destId="{35682F84-0EE2-41ED-9FF3-791AF794C71B}" srcOrd="2" destOrd="0" presId="urn:microsoft.com/office/officeart/2018/2/layout/IconVerticalSolidList"/>
    <dgm:cxn modelId="{85F8DF11-1FB7-454D-A91B-2A37B11F2312}" type="presParOf" srcId="{DCFF6F3D-6DF5-4A26-9EF0-4A9901389B44}" destId="{91320EC5-D1C5-4789-B132-E27AE2426A7B}" srcOrd="3" destOrd="0" presId="urn:microsoft.com/office/officeart/2018/2/layout/IconVerticalSolidList"/>
    <dgm:cxn modelId="{6EA49F69-F72D-4D8A-A55B-B86AE02C1950}" type="presParOf" srcId="{14E36CCA-938A-4203-9CAD-A9AD6B00C569}" destId="{ACD9976E-2733-4657-A127-C5BA383E0B23}" srcOrd="13" destOrd="0" presId="urn:microsoft.com/office/officeart/2018/2/layout/IconVerticalSolidList"/>
    <dgm:cxn modelId="{41223C8D-D41D-452D-A609-D24741784FEA}" type="presParOf" srcId="{14E36CCA-938A-4203-9CAD-A9AD6B00C569}" destId="{78D98467-4F5D-4CB4-92BC-B37BF161E944}" srcOrd="14" destOrd="0" presId="urn:microsoft.com/office/officeart/2018/2/layout/IconVerticalSolidList"/>
    <dgm:cxn modelId="{8FDAFD1E-ADBF-43B7-8474-D9F5085C5662}" type="presParOf" srcId="{78D98467-4F5D-4CB4-92BC-B37BF161E944}" destId="{09AEB21D-4079-4C52-9014-5EC3E0D01CEB}" srcOrd="0" destOrd="0" presId="urn:microsoft.com/office/officeart/2018/2/layout/IconVerticalSolidList"/>
    <dgm:cxn modelId="{DDAF8E84-CB56-4E56-8EC1-3FE6AF57AB22}" type="presParOf" srcId="{78D98467-4F5D-4CB4-92BC-B37BF161E944}" destId="{FD8A65F0-7F08-4243-A52D-4F972AA0ECCF}" srcOrd="1" destOrd="0" presId="urn:microsoft.com/office/officeart/2018/2/layout/IconVerticalSolidList"/>
    <dgm:cxn modelId="{764FF09A-95C8-46E8-8D67-690815122E12}" type="presParOf" srcId="{78D98467-4F5D-4CB4-92BC-B37BF161E944}" destId="{3E488AD6-0D19-4B92-A3FF-3EF4E3B123F0}" srcOrd="2" destOrd="0" presId="urn:microsoft.com/office/officeart/2018/2/layout/IconVerticalSolidList"/>
    <dgm:cxn modelId="{AC5D9D4D-1E14-4665-A792-AA3B188E364B}" type="presParOf" srcId="{78D98467-4F5D-4CB4-92BC-B37BF161E944}" destId="{932B64B6-C774-42E8-9CEA-B6D21194C4E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187375-25ED-44A9-95DB-28EB9658C4F0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694475-F49E-4C01-B6C7-F5831FB2D595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E2AFDE-DB47-40C6-9D6B-DCD21C83999D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>
              <a:latin typeface="Aptos Display"/>
              <a:cs typeface="Quire Sans"/>
            </a:rPr>
            <a:t> The objective of this exploratory analysis is to:</a:t>
          </a:r>
        </a:p>
      </dsp:txBody>
      <dsp:txXfrm>
        <a:off x="1844034" y="682"/>
        <a:ext cx="4401230" cy="1596566"/>
      </dsp:txXfrm>
    </dsp:sp>
    <dsp:sp modelId="{DA500F2A-0DD8-4754-BE33-321349DAC3EC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9823D-4859-4BE8-8A8E-5EF09BA2F89A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FA0EA-F676-481F-8D19-8FB599CFB4B9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>
              <a:latin typeface="Aptos Display"/>
              <a:cs typeface="Quire Sans"/>
            </a:rPr>
            <a:t> Identify patterns in the data that may help us better understand our multinomial logistic regression model</a:t>
          </a:r>
          <a:endParaRPr lang="en-US" sz="2000" kern="1200"/>
        </a:p>
      </dsp:txBody>
      <dsp:txXfrm>
        <a:off x="1844034" y="1996390"/>
        <a:ext cx="4401230" cy="1596566"/>
      </dsp:txXfrm>
    </dsp:sp>
    <dsp:sp modelId="{1A4C6F5D-ABB2-465F-9A55-BFB566B555EC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751877-DC79-4CC7-9E27-C34C9C49EC84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4A6EC-28E3-44A6-BAD6-075C3D0B0E26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>
              <a:latin typeface="Aptos Display"/>
              <a:cs typeface="Quire Sans"/>
            </a:rPr>
            <a:t> Can we determine an animal's classification (mammal, bird, reptile, etc.) based on its physical characteristics and behavioral traits?</a:t>
          </a:r>
        </a:p>
      </dsp:txBody>
      <dsp:txXfrm>
        <a:off x="1844034" y="3992098"/>
        <a:ext cx="4401230" cy="15965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DD90A5-9BC9-4A6C-8DEF-B4E566F1257E}">
      <dsp:nvSpPr>
        <dsp:cNvPr id="0" name=""/>
        <dsp:cNvSpPr/>
      </dsp:nvSpPr>
      <dsp:spPr>
        <a:xfrm>
          <a:off x="1397065" y="495509"/>
          <a:ext cx="1512000" cy="1512000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8D62B-9854-4939-B1AD-D221AC372CDF}">
      <dsp:nvSpPr>
        <dsp:cNvPr id="0" name=""/>
        <dsp:cNvSpPr/>
      </dsp:nvSpPr>
      <dsp:spPr>
        <a:xfrm>
          <a:off x="1397065" y="216703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3600" b="1" kern="1200"/>
            <a:t>Dataset Overview:</a:t>
          </a:r>
          <a:endParaRPr lang="en-US" sz="3600" kern="1200"/>
        </a:p>
      </dsp:txBody>
      <dsp:txXfrm>
        <a:off x="1397065" y="2167030"/>
        <a:ext cx="4320000" cy="648000"/>
      </dsp:txXfrm>
    </dsp:sp>
    <dsp:sp modelId="{225816D3-CC2B-47B3-9289-C56E0747F6AB}">
      <dsp:nvSpPr>
        <dsp:cNvPr id="0" name=""/>
        <dsp:cNvSpPr/>
      </dsp:nvSpPr>
      <dsp:spPr>
        <a:xfrm>
          <a:off x="1397065" y="2889226"/>
          <a:ext cx="4320000" cy="1316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101 animals</a:t>
          </a:r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16 predictors (mostly binary, one numeric)</a:t>
          </a:r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Response variable: </a:t>
          </a:r>
          <a:r>
            <a:rPr lang="en-US" sz="1700" b="1" kern="1200" err="1"/>
            <a:t>class_type</a:t>
          </a:r>
          <a:r>
            <a:rPr lang="en-US" sz="1700" kern="1200"/>
            <a:t> (7 categories)</a:t>
          </a:r>
        </a:p>
      </dsp:txBody>
      <dsp:txXfrm>
        <a:off x="1397065" y="2889226"/>
        <a:ext cx="4320000" cy="1316068"/>
      </dsp:txXfrm>
    </dsp:sp>
    <dsp:sp modelId="{34BB9276-3464-47D9-9335-62C9613FD45D}">
      <dsp:nvSpPr>
        <dsp:cNvPr id="0" name=""/>
        <dsp:cNvSpPr/>
      </dsp:nvSpPr>
      <dsp:spPr>
        <a:xfrm>
          <a:off x="6473065" y="49550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94FC8-3E05-4703-A897-B774B3968C32}">
      <dsp:nvSpPr>
        <dsp:cNvPr id="0" name=""/>
        <dsp:cNvSpPr/>
      </dsp:nvSpPr>
      <dsp:spPr>
        <a:xfrm>
          <a:off x="6473065" y="216703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3600" b="1" kern="1200"/>
            <a:t>Important Notes:</a:t>
          </a:r>
          <a:endParaRPr lang="en-US" sz="3600" kern="1200"/>
        </a:p>
      </dsp:txBody>
      <dsp:txXfrm>
        <a:off x="6473065" y="2167030"/>
        <a:ext cx="4320000" cy="648000"/>
      </dsp:txXfrm>
    </dsp:sp>
    <dsp:sp modelId="{3A3F16E2-6383-42CA-9727-59E5502F71B4}">
      <dsp:nvSpPr>
        <dsp:cNvPr id="0" name=""/>
        <dsp:cNvSpPr/>
      </dsp:nvSpPr>
      <dsp:spPr>
        <a:xfrm>
          <a:off x="6473065" y="2889226"/>
          <a:ext cx="4320000" cy="1316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Most predictors are binary (e.g., </a:t>
          </a:r>
          <a:r>
            <a:rPr lang="en-US" sz="1700" b="1" kern="1200"/>
            <a:t>hair</a:t>
          </a:r>
          <a:r>
            <a:rPr lang="en-US" sz="1700" kern="1200"/>
            <a:t>, </a:t>
          </a:r>
          <a:r>
            <a:rPr lang="en-US" sz="1700" b="1" kern="1200"/>
            <a:t>feathers</a:t>
          </a:r>
          <a:r>
            <a:rPr lang="en-US" sz="1700" kern="1200"/>
            <a:t>, </a:t>
          </a:r>
          <a:r>
            <a:rPr lang="en-US" sz="1700" b="1" kern="1200"/>
            <a:t>eggs</a:t>
          </a:r>
          <a:r>
            <a:rPr lang="en-US" sz="1700" kern="1200"/>
            <a:t>).</a:t>
          </a:r>
        </a:p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/>
            <a:t>Legs </a:t>
          </a:r>
          <a:r>
            <a:rPr lang="en-US" sz="1700" kern="1200"/>
            <a:t>is </a:t>
          </a:r>
          <a:r>
            <a:rPr lang="en-US" sz="1700" kern="1200">
              <a:latin typeface="Aptos Display" panose="020F0302020204030204"/>
            </a:rPr>
            <a:t>the only numeric predictor</a:t>
          </a:r>
          <a:endParaRPr lang="en-US" sz="1700" kern="1200"/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Class imbalance present (</a:t>
          </a:r>
          <a:r>
            <a:rPr lang="en-US" sz="1700" b="1" kern="1200"/>
            <a:t>Mammals </a:t>
          </a:r>
          <a:r>
            <a:rPr lang="en-US" sz="1700" kern="1200"/>
            <a:t>most frequent).</a:t>
          </a:r>
        </a:p>
      </dsp:txBody>
      <dsp:txXfrm>
        <a:off x="6473065" y="2889226"/>
        <a:ext cx="4320000" cy="13160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782596-69EC-4DCF-9158-6664ADE0F860}">
      <dsp:nvSpPr>
        <dsp:cNvPr id="0" name=""/>
        <dsp:cNvSpPr/>
      </dsp:nvSpPr>
      <dsp:spPr>
        <a:xfrm>
          <a:off x="0" y="497370"/>
          <a:ext cx="6900512" cy="1598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604012" rIns="535556" bIns="206248" numCol="1" spcCol="1270" anchor="t" anchorCtr="0">
          <a:noAutofit/>
        </a:bodyPr>
        <a:lstStyle/>
        <a:p>
          <a:pPr marL="285750" lvl="1" indent="-285750" algn="l" defTabSz="1289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/>
            <a:t>Predict </a:t>
          </a:r>
          <a:r>
            <a:rPr lang="en-US" sz="2900" b="1" kern="1200" err="1"/>
            <a:t>class_type</a:t>
          </a:r>
          <a:r>
            <a:rPr lang="en-US" sz="2900" kern="1200"/>
            <a:t> using selected predictors</a:t>
          </a:r>
        </a:p>
      </dsp:txBody>
      <dsp:txXfrm>
        <a:off x="0" y="497370"/>
        <a:ext cx="6900512" cy="1598625"/>
      </dsp:txXfrm>
    </dsp:sp>
    <dsp:sp modelId="{817A196C-0881-41C3-A4AE-65A828DA24E5}">
      <dsp:nvSpPr>
        <dsp:cNvPr id="0" name=""/>
        <dsp:cNvSpPr/>
      </dsp:nvSpPr>
      <dsp:spPr>
        <a:xfrm>
          <a:off x="345025" y="69330"/>
          <a:ext cx="4830358" cy="856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/>
            <a:t>Model:</a:t>
          </a:r>
          <a:endParaRPr lang="en-US" sz="2900" kern="1200"/>
        </a:p>
      </dsp:txBody>
      <dsp:txXfrm>
        <a:off x="386815" y="111120"/>
        <a:ext cx="4746778" cy="772500"/>
      </dsp:txXfrm>
    </dsp:sp>
    <dsp:sp modelId="{45AA3399-34B3-4D12-B55C-D1743558ED45}">
      <dsp:nvSpPr>
        <dsp:cNvPr id="0" name=""/>
        <dsp:cNvSpPr/>
      </dsp:nvSpPr>
      <dsp:spPr>
        <a:xfrm>
          <a:off x="0" y="2680635"/>
          <a:ext cx="6900512" cy="2786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604012" rIns="535556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/>
            <a:t>Coefficients show association between traits and class membership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/>
            <a:t>Categorical predictors handled directly</a:t>
          </a:r>
        </a:p>
      </dsp:txBody>
      <dsp:txXfrm>
        <a:off x="0" y="2680635"/>
        <a:ext cx="6900512" cy="2786175"/>
      </dsp:txXfrm>
    </dsp:sp>
    <dsp:sp modelId="{E9940521-85A8-4A12-B2E9-5B41C0010869}">
      <dsp:nvSpPr>
        <dsp:cNvPr id="0" name=""/>
        <dsp:cNvSpPr/>
      </dsp:nvSpPr>
      <dsp:spPr>
        <a:xfrm>
          <a:off x="345025" y="2252595"/>
          <a:ext cx="4830358" cy="8560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/>
            <a:t>Interpretation:</a:t>
          </a:r>
          <a:endParaRPr lang="en-US" sz="2900" kern="1200"/>
        </a:p>
      </dsp:txBody>
      <dsp:txXfrm>
        <a:off x="386815" y="2294385"/>
        <a:ext cx="4746778" cy="772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49417-9093-49DC-8EF3-3185D480048C}">
      <dsp:nvSpPr>
        <dsp:cNvPr id="0" name=""/>
        <dsp:cNvSpPr/>
      </dsp:nvSpPr>
      <dsp:spPr>
        <a:xfrm>
          <a:off x="0" y="134794"/>
          <a:ext cx="6900512" cy="85263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/>
            <a:t>Process:</a:t>
          </a:r>
          <a:endParaRPr lang="en-US" sz="2200" kern="1200"/>
        </a:p>
      </dsp:txBody>
      <dsp:txXfrm>
        <a:off x="41622" y="176416"/>
        <a:ext cx="6817268" cy="769393"/>
      </dsp:txXfrm>
    </dsp:sp>
    <dsp:sp modelId="{94A6610F-06D6-4445-B272-8DF60BDA00E7}">
      <dsp:nvSpPr>
        <dsp:cNvPr id="0" name=""/>
        <dsp:cNvSpPr/>
      </dsp:nvSpPr>
      <dsp:spPr>
        <a:xfrm>
          <a:off x="0" y="987431"/>
          <a:ext cx="6900512" cy="512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700" kern="1200"/>
            <a:t>Predictors selected based on biological relevance and correlation analysis</a:t>
          </a:r>
        </a:p>
      </dsp:txBody>
      <dsp:txXfrm>
        <a:off x="0" y="987431"/>
        <a:ext cx="6900512" cy="512325"/>
      </dsp:txXfrm>
    </dsp:sp>
    <dsp:sp modelId="{FB6EA512-4BAB-45DA-8676-5F05FA337781}">
      <dsp:nvSpPr>
        <dsp:cNvPr id="0" name=""/>
        <dsp:cNvSpPr/>
      </dsp:nvSpPr>
      <dsp:spPr>
        <a:xfrm>
          <a:off x="0" y="1499756"/>
          <a:ext cx="6900512" cy="852637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>
              <a:latin typeface="Aptos Display" panose="020F0302020204030204"/>
            </a:rPr>
            <a:t> </a:t>
          </a:r>
          <a:r>
            <a:rPr lang="en-US" sz="2200" kern="1200"/>
            <a:t>Checked and avoided strong multicollinearity among predictors</a:t>
          </a:r>
        </a:p>
      </dsp:txBody>
      <dsp:txXfrm>
        <a:off x="41622" y="1541378"/>
        <a:ext cx="6817268" cy="769393"/>
      </dsp:txXfrm>
    </dsp:sp>
    <dsp:sp modelId="{75BE56C3-BE26-4D82-ABEE-DFC1090E6F21}">
      <dsp:nvSpPr>
        <dsp:cNvPr id="0" name=""/>
        <dsp:cNvSpPr/>
      </dsp:nvSpPr>
      <dsp:spPr>
        <a:xfrm>
          <a:off x="0" y="2415754"/>
          <a:ext cx="6900512" cy="852637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/>
            <a:t>Final Model:</a:t>
          </a:r>
          <a:endParaRPr lang="en-US" sz="2200" kern="1200"/>
        </a:p>
      </dsp:txBody>
      <dsp:txXfrm>
        <a:off x="41622" y="2457376"/>
        <a:ext cx="6817268" cy="769393"/>
      </dsp:txXfrm>
    </dsp:sp>
    <dsp:sp modelId="{0D4CA53D-8C84-497E-8C46-24C92B7AB5F5}">
      <dsp:nvSpPr>
        <dsp:cNvPr id="0" name=""/>
        <dsp:cNvSpPr/>
      </dsp:nvSpPr>
      <dsp:spPr>
        <a:xfrm>
          <a:off x="0" y="3268391"/>
          <a:ext cx="6900512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700" kern="1200"/>
            <a:t>Included key predictors with clear associations to animal classes</a:t>
          </a:r>
        </a:p>
      </dsp:txBody>
      <dsp:txXfrm>
        <a:off x="0" y="3268391"/>
        <a:ext cx="6900512" cy="364320"/>
      </dsp:txXfrm>
    </dsp:sp>
    <dsp:sp modelId="{B3938856-96DB-4980-BC83-8DAB38D2E4C2}">
      <dsp:nvSpPr>
        <dsp:cNvPr id="0" name=""/>
        <dsp:cNvSpPr/>
      </dsp:nvSpPr>
      <dsp:spPr>
        <a:xfrm>
          <a:off x="0" y="3632711"/>
          <a:ext cx="6900512" cy="852637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Focused on maintaining interpretability and practical meaning</a:t>
          </a:r>
        </a:p>
      </dsp:txBody>
      <dsp:txXfrm>
        <a:off x="41622" y="3674333"/>
        <a:ext cx="6817268" cy="769393"/>
      </dsp:txXfrm>
    </dsp:sp>
    <dsp:sp modelId="{4310AC4E-B727-49AC-9E29-315CD98E698D}">
      <dsp:nvSpPr>
        <dsp:cNvPr id="0" name=""/>
        <dsp:cNvSpPr/>
      </dsp:nvSpPr>
      <dsp:spPr>
        <a:xfrm>
          <a:off x="0" y="4548709"/>
          <a:ext cx="6900512" cy="852637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Stepwise selection was considered but not implemented</a:t>
          </a:r>
        </a:p>
      </dsp:txBody>
      <dsp:txXfrm>
        <a:off x="41622" y="4590331"/>
        <a:ext cx="6817268" cy="7693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18785B-6B0B-4250-8B09-DB6CCBAA8214}">
      <dsp:nvSpPr>
        <dsp:cNvPr id="0" name=""/>
        <dsp:cNvSpPr/>
      </dsp:nvSpPr>
      <dsp:spPr>
        <a:xfrm>
          <a:off x="0" y="531"/>
          <a:ext cx="5260157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47FA3-41CA-4063-933A-E601BF43104C}">
      <dsp:nvSpPr>
        <dsp:cNvPr id="0" name=""/>
        <dsp:cNvSpPr/>
      </dsp:nvSpPr>
      <dsp:spPr>
        <a:xfrm>
          <a:off x="134970" y="100922"/>
          <a:ext cx="245400" cy="245400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72DB2-1AF9-4757-8D12-1E87666325B3}">
      <dsp:nvSpPr>
        <dsp:cNvPr id="0" name=""/>
        <dsp:cNvSpPr/>
      </dsp:nvSpPr>
      <dsp:spPr>
        <a:xfrm>
          <a:off x="515340" y="531"/>
          <a:ext cx="4744816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Hair</a:t>
          </a:r>
        </a:p>
      </dsp:txBody>
      <dsp:txXfrm>
        <a:off x="515340" y="531"/>
        <a:ext cx="4744816" cy="446182"/>
      </dsp:txXfrm>
    </dsp:sp>
    <dsp:sp modelId="{BE453998-DC3C-4480-8D54-459669758C98}">
      <dsp:nvSpPr>
        <dsp:cNvPr id="0" name=""/>
        <dsp:cNvSpPr/>
      </dsp:nvSpPr>
      <dsp:spPr>
        <a:xfrm>
          <a:off x="0" y="558258"/>
          <a:ext cx="5260157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2C98BC-0DEF-4651-A368-5D9E74D1EC35}">
      <dsp:nvSpPr>
        <dsp:cNvPr id="0" name=""/>
        <dsp:cNvSpPr/>
      </dsp:nvSpPr>
      <dsp:spPr>
        <a:xfrm>
          <a:off x="134970" y="658649"/>
          <a:ext cx="245400" cy="245400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A9ABE2-0663-4D65-A21C-A9CAEECAE34B}">
      <dsp:nvSpPr>
        <dsp:cNvPr id="0" name=""/>
        <dsp:cNvSpPr/>
      </dsp:nvSpPr>
      <dsp:spPr>
        <a:xfrm>
          <a:off x="515340" y="558258"/>
          <a:ext cx="4744816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Feathers</a:t>
          </a:r>
        </a:p>
      </dsp:txBody>
      <dsp:txXfrm>
        <a:off x="515340" y="558258"/>
        <a:ext cx="4744816" cy="446182"/>
      </dsp:txXfrm>
    </dsp:sp>
    <dsp:sp modelId="{35C52853-EA26-4DA3-90D4-5DA726B07790}">
      <dsp:nvSpPr>
        <dsp:cNvPr id="0" name=""/>
        <dsp:cNvSpPr/>
      </dsp:nvSpPr>
      <dsp:spPr>
        <a:xfrm>
          <a:off x="0" y="1115986"/>
          <a:ext cx="5260157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314A02-39B0-4BF1-B9F3-2DFAA53D4CB2}">
      <dsp:nvSpPr>
        <dsp:cNvPr id="0" name=""/>
        <dsp:cNvSpPr/>
      </dsp:nvSpPr>
      <dsp:spPr>
        <a:xfrm>
          <a:off x="134970" y="1216377"/>
          <a:ext cx="245400" cy="245400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C2864-5D89-4865-8BC9-178369543B00}">
      <dsp:nvSpPr>
        <dsp:cNvPr id="0" name=""/>
        <dsp:cNvSpPr/>
      </dsp:nvSpPr>
      <dsp:spPr>
        <a:xfrm>
          <a:off x="515340" y="1115986"/>
          <a:ext cx="4744816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Eggs</a:t>
          </a:r>
        </a:p>
      </dsp:txBody>
      <dsp:txXfrm>
        <a:off x="515340" y="1115986"/>
        <a:ext cx="4744816" cy="446182"/>
      </dsp:txXfrm>
    </dsp:sp>
    <dsp:sp modelId="{E55358BD-FAF4-4B1F-97B8-D450A6E51237}">
      <dsp:nvSpPr>
        <dsp:cNvPr id="0" name=""/>
        <dsp:cNvSpPr/>
      </dsp:nvSpPr>
      <dsp:spPr>
        <a:xfrm>
          <a:off x="0" y="1673714"/>
          <a:ext cx="5260157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069D76-B66C-4C24-9EB9-6834D81031F3}">
      <dsp:nvSpPr>
        <dsp:cNvPr id="0" name=""/>
        <dsp:cNvSpPr/>
      </dsp:nvSpPr>
      <dsp:spPr>
        <a:xfrm>
          <a:off x="134970" y="1774105"/>
          <a:ext cx="245400" cy="245400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3EA46-5E4B-4EDD-B9C3-AD239642C5E2}">
      <dsp:nvSpPr>
        <dsp:cNvPr id="0" name=""/>
        <dsp:cNvSpPr/>
      </dsp:nvSpPr>
      <dsp:spPr>
        <a:xfrm>
          <a:off x="515340" y="1673714"/>
          <a:ext cx="4744816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Milk</a:t>
          </a:r>
        </a:p>
      </dsp:txBody>
      <dsp:txXfrm>
        <a:off x="515340" y="1673714"/>
        <a:ext cx="4744816" cy="446182"/>
      </dsp:txXfrm>
    </dsp:sp>
    <dsp:sp modelId="{99041362-730F-4A9A-823D-385C6993036E}">
      <dsp:nvSpPr>
        <dsp:cNvPr id="0" name=""/>
        <dsp:cNvSpPr/>
      </dsp:nvSpPr>
      <dsp:spPr>
        <a:xfrm>
          <a:off x="0" y="2231441"/>
          <a:ext cx="5260157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6CCCA0-66C8-4C12-A7D9-A3B4A528A696}">
      <dsp:nvSpPr>
        <dsp:cNvPr id="0" name=""/>
        <dsp:cNvSpPr/>
      </dsp:nvSpPr>
      <dsp:spPr>
        <a:xfrm>
          <a:off x="134970" y="2331832"/>
          <a:ext cx="245400" cy="245400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EE8B94-3502-4C8F-B669-28A085B14FEF}">
      <dsp:nvSpPr>
        <dsp:cNvPr id="0" name=""/>
        <dsp:cNvSpPr/>
      </dsp:nvSpPr>
      <dsp:spPr>
        <a:xfrm>
          <a:off x="515340" y="2231441"/>
          <a:ext cx="4744816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Airborne</a:t>
          </a:r>
        </a:p>
      </dsp:txBody>
      <dsp:txXfrm>
        <a:off x="515340" y="2231441"/>
        <a:ext cx="4744816" cy="446182"/>
      </dsp:txXfrm>
    </dsp:sp>
    <dsp:sp modelId="{AA785E62-BA64-42A8-B342-D2345542B015}">
      <dsp:nvSpPr>
        <dsp:cNvPr id="0" name=""/>
        <dsp:cNvSpPr/>
      </dsp:nvSpPr>
      <dsp:spPr>
        <a:xfrm>
          <a:off x="0" y="2789169"/>
          <a:ext cx="5260157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99E6C6-154D-421E-9BF1-E6823A12AAC2}">
      <dsp:nvSpPr>
        <dsp:cNvPr id="0" name=""/>
        <dsp:cNvSpPr/>
      </dsp:nvSpPr>
      <dsp:spPr>
        <a:xfrm>
          <a:off x="134970" y="2889560"/>
          <a:ext cx="245400" cy="245400"/>
        </a:xfrm>
        <a:prstGeom prst="rect">
          <a:avLst/>
        </a:prstGeom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BAA9B-5244-46A2-9DDD-FB5C980AF6D1}">
      <dsp:nvSpPr>
        <dsp:cNvPr id="0" name=""/>
        <dsp:cNvSpPr/>
      </dsp:nvSpPr>
      <dsp:spPr>
        <a:xfrm>
          <a:off x="515340" y="2789169"/>
          <a:ext cx="4744816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Aquatic</a:t>
          </a:r>
        </a:p>
      </dsp:txBody>
      <dsp:txXfrm>
        <a:off x="515340" y="2789169"/>
        <a:ext cx="4744816" cy="446182"/>
      </dsp:txXfrm>
    </dsp:sp>
    <dsp:sp modelId="{E6AE3F8B-4E81-4AD2-8774-D7FD2CCB3161}">
      <dsp:nvSpPr>
        <dsp:cNvPr id="0" name=""/>
        <dsp:cNvSpPr/>
      </dsp:nvSpPr>
      <dsp:spPr>
        <a:xfrm>
          <a:off x="0" y="3346897"/>
          <a:ext cx="5260157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9871CA-DA89-4D2A-8B45-CBBE625FE07F}">
      <dsp:nvSpPr>
        <dsp:cNvPr id="0" name=""/>
        <dsp:cNvSpPr/>
      </dsp:nvSpPr>
      <dsp:spPr>
        <a:xfrm>
          <a:off x="134970" y="3447288"/>
          <a:ext cx="245400" cy="245400"/>
        </a:xfrm>
        <a:prstGeom prst="rect">
          <a:avLst/>
        </a:prstGeom>
        <a:blipFill>
          <a:blip xmlns:r="http://schemas.openxmlformats.org/officeDocument/2006/relationships"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20EC5-D1C5-4789-B132-E27AE2426A7B}">
      <dsp:nvSpPr>
        <dsp:cNvPr id="0" name=""/>
        <dsp:cNvSpPr/>
      </dsp:nvSpPr>
      <dsp:spPr>
        <a:xfrm>
          <a:off x="515340" y="3346897"/>
          <a:ext cx="4744816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Predator</a:t>
          </a:r>
        </a:p>
      </dsp:txBody>
      <dsp:txXfrm>
        <a:off x="515340" y="3346897"/>
        <a:ext cx="4744816" cy="446182"/>
      </dsp:txXfrm>
    </dsp:sp>
    <dsp:sp modelId="{09AEB21D-4079-4C52-9014-5EC3E0D01CEB}">
      <dsp:nvSpPr>
        <dsp:cNvPr id="0" name=""/>
        <dsp:cNvSpPr/>
      </dsp:nvSpPr>
      <dsp:spPr>
        <a:xfrm>
          <a:off x="0" y="3904624"/>
          <a:ext cx="5260157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8A65F0-7F08-4243-A52D-4F972AA0ECCF}">
      <dsp:nvSpPr>
        <dsp:cNvPr id="0" name=""/>
        <dsp:cNvSpPr/>
      </dsp:nvSpPr>
      <dsp:spPr>
        <a:xfrm>
          <a:off x="134970" y="4005015"/>
          <a:ext cx="245400" cy="245400"/>
        </a:xfrm>
        <a:prstGeom prst="rect">
          <a:avLst/>
        </a:prstGeom>
        <a:blipFill>
          <a:blip xmlns:r="http://schemas.openxmlformats.org/officeDocument/2006/relationships"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2B64B6-C774-42E8-9CEA-B6D21194C4EF}">
      <dsp:nvSpPr>
        <dsp:cNvPr id="0" name=""/>
        <dsp:cNvSpPr/>
      </dsp:nvSpPr>
      <dsp:spPr>
        <a:xfrm>
          <a:off x="515340" y="3904624"/>
          <a:ext cx="4744816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Toothed</a:t>
          </a:r>
        </a:p>
      </dsp:txBody>
      <dsp:txXfrm>
        <a:off x="515340" y="3904624"/>
        <a:ext cx="4744816" cy="4461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hadows of bull fighting a bear">
            <a:extLst>
              <a:ext uri="{FF2B5EF4-FFF2-40B4-BE49-F238E27FC236}">
                <a16:creationId xmlns:a16="http://schemas.microsoft.com/office/drawing/2014/main" id="{29F59E8C-CFA4-6447-EE0C-22C9F4623A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0237" r="-2" b="5366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2545" y="529695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Predicting Animal Class Based on Physical and Behavioral Traits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82766"/>
            <a:ext cx="9144000" cy="109839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ptos Display"/>
              </a:rPr>
              <a:t>Michal Kuderski and John Gomez</a:t>
            </a:r>
          </a:p>
          <a:p>
            <a:r>
              <a:rPr lang="en-US" sz="3200" dirty="0">
                <a:solidFill>
                  <a:srgbClr val="FFFFFF"/>
                </a:solidFill>
                <a:latin typeface="Aptos Display"/>
              </a:rPr>
              <a:t>STAT 437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C0E54-D656-5ABC-7476-4912ACED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550" y="636178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/>
              <a:t>Purpose</a:t>
            </a:r>
            <a:r>
              <a:rPr lang="en-US" sz="8000">
                <a:latin typeface="Aptos Display"/>
              </a:rPr>
              <a:t>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7DEB53-F4A0-0BD8-62BB-90E27690C9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840955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6847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4DE5E-46BF-CE6B-03CB-9AAC90DDE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 Description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B36C42-9FA0-FA05-0AB3-B54029C710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0164810"/>
              </p:ext>
            </p:extLst>
          </p:nvPr>
        </p:nvGraphicFramePr>
        <p:xfrm>
          <a:off x="5208" y="1604579"/>
          <a:ext cx="12190131" cy="4700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89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45B61-6B44-22C2-FFB0-1DB9F5CCE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177" y="372868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/>
              <a:t>Exploratory Analysis –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10F42-AD76-1F90-3C0A-B993DBCDF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177" y="2386120"/>
            <a:ext cx="4959603" cy="352256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ea typeface="+mn-lt"/>
                <a:cs typeface="+mn-lt"/>
              </a:rPr>
              <a:t>Bar Chart:</a:t>
            </a:r>
            <a:endParaRPr lang="en-US" sz="2400"/>
          </a:p>
          <a:p>
            <a:pPr lvl="1">
              <a:lnSpc>
                <a:spcPct val="150000"/>
              </a:lnSpc>
            </a:pPr>
            <a:r>
              <a:rPr lang="en-US">
                <a:ea typeface="+mn-lt"/>
                <a:cs typeface="+mn-lt"/>
              </a:rPr>
              <a:t>Counts of animals per class</a:t>
            </a:r>
            <a:endParaRPr lang="en-US"/>
          </a:p>
          <a:p>
            <a:pPr lvl="1">
              <a:lnSpc>
                <a:spcPct val="150000"/>
              </a:lnSpc>
            </a:pPr>
            <a:r>
              <a:rPr lang="en-US" b="1">
                <a:ea typeface="+mn-lt"/>
                <a:cs typeface="+mn-lt"/>
              </a:rPr>
              <a:t>Mammals </a:t>
            </a:r>
            <a:r>
              <a:rPr lang="en-US">
                <a:ea typeface="+mn-lt"/>
                <a:cs typeface="+mn-lt"/>
              </a:rPr>
              <a:t>and </a:t>
            </a:r>
            <a:r>
              <a:rPr lang="en-US" b="1">
                <a:ea typeface="+mn-lt"/>
                <a:cs typeface="+mn-lt"/>
              </a:rPr>
              <a:t>Birds </a:t>
            </a:r>
            <a:r>
              <a:rPr lang="en-US">
                <a:ea typeface="+mn-lt"/>
                <a:cs typeface="+mn-lt"/>
              </a:rPr>
              <a:t>dominate</a:t>
            </a:r>
          </a:p>
          <a:p>
            <a:pPr lvl="1">
              <a:lnSpc>
                <a:spcPct val="150000"/>
              </a:lnSpc>
            </a:pPr>
            <a:r>
              <a:rPr lang="en-US" b="1"/>
              <a:t>Reptiles </a:t>
            </a:r>
            <a:r>
              <a:rPr lang="en-US"/>
              <a:t>and </a:t>
            </a:r>
            <a:r>
              <a:rPr lang="en-US" b="1"/>
              <a:t>Amphibians </a:t>
            </a:r>
            <a:r>
              <a:rPr lang="en-US"/>
              <a:t>are the rarest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79C780-317B-33C6-287E-D40A8FBCA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696" y="1414592"/>
            <a:ext cx="5717633" cy="402834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30C68E-EC2E-14ED-CC92-77FB0C2F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Exploratory Analysis – Distribution</a:t>
            </a:r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A1AA9-A1A1-0C9B-C643-10AB10D36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80" y="2575786"/>
            <a:ext cx="3423356" cy="328089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100" b="1"/>
              <a:t>Boxplot:</a:t>
            </a:r>
            <a:endParaRPr lang="en-US" sz="2100"/>
          </a:p>
          <a:p>
            <a:pPr lvl="1">
              <a:lnSpc>
                <a:spcPct val="150000"/>
              </a:lnSpc>
            </a:pPr>
            <a:r>
              <a:rPr lang="en-US" sz="2100"/>
              <a:t>Number of legs by class type</a:t>
            </a:r>
          </a:p>
          <a:p>
            <a:pPr lvl="1">
              <a:lnSpc>
                <a:spcPct val="150000"/>
              </a:lnSpc>
            </a:pPr>
            <a:r>
              <a:rPr lang="en-US" sz="2100"/>
              <a:t>Most classes show consistent leg counts</a:t>
            </a:r>
          </a:p>
          <a:p>
            <a:pPr lvl="1">
              <a:lnSpc>
                <a:spcPct val="150000"/>
              </a:lnSpc>
            </a:pPr>
            <a:r>
              <a:rPr lang="en-US" sz="2100" b="1"/>
              <a:t>Reptiles </a:t>
            </a:r>
            <a:r>
              <a:rPr lang="en-US" sz="2100"/>
              <a:t>and </a:t>
            </a:r>
            <a:r>
              <a:rPr lang="en-US" sz="2100" b="1"/>
              <a:t>Invertebrates </a:t>
            </a:r>
            <a:r>
              <a:rPr lang="en-US" sz="2100"/>
              <a:t>have more variation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8D2B17-AAE4-6D28-2394-2C654C753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952290"/>
            <a:ext cx="6903720" cy="495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6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4ADEBC-B3D9-3876-CFED-C02019F4A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444" y="510367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>
                <a:ea typeface="+mj-lt"/>
                <a:cs typeface="+mj-lt"/>
              </a:rPr>
              <a:t>Exploratory Analysis – Relationships</a:t>
            </a:r>
            <a:endParaRPr lang="en-US" sz="3800"/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39ED-0208-D59B-E0C8-F20E027AC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122" y="2581191"/>
            <a:ext cx="4358896" cy="341716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ea typeface="+mn-lt"/>
                <a:cs typeface="+mn-lt"/>
              </a:rPr>
              <a:t>Correlation Heatmap:</a:t>
            </a:r>
            <a:endParaRPr lang="en-US" sz="2400"/>
          </a:p>
          <a:p>
            <a:pPr lvl="1">
              <a:lnSpc>
                <a:spcPct val="150000"/>
              </a:lnSpc>
            </a:pPr>
            <a:r>
              <a:rPr lang="en-US">
                <a:ea typeface="+mn-lt"/>
                <a:cs typeface="+mn-lt"/>
              </a:rPr>
              <a:t>Positive correlations: </a:t>
            </a:r>
            <a:r>
              <a:rPr lang="en-US" b="1">
                <a:ea typeface="+mn-lt"/>
                <a:cs typeface="+mn-lt"/>
              </a:rPr>
              <a:t>hair </a:t>
            </a:r>
            <a:r>
              <a:rPr lang="en-US">
                <a:ea typeface="+mn-lt"/>
                <a:cs typeface="+mn-lt"/>
              </a:rPr>
              <a:t>and </a:t>
            </a:r>
            <a:r>
              <a:rPr lang="en-US" b="1">
                <a:ea typeface="+mn-lt"/>
                <a:cs typeface="+mn-lt"/>
              </a:rPr>
              <a:t>milk</a:t>
            </a:r>
            <a:endParaRPr lang="en-US"/>
          </a:p>
          <a:p>
            <a:pPr lvl="1">
              <a:lnSpc>
                <a:spcPct val="150000"/>
              </a:lnSpc>
            </a:pPr>
            <a:r>
              <a:rPr lang="en-US">
                <a:ea typeface="+mn-lt"/>
                <a:cs typeface="+mn-lt"/>
              </a:rPr>
              <a:t>Negative correlations: </a:t>
            </a:r>
            <a:r>
              <a:rPr lang="en-US" b="1">
                <a:ea typeface="+mn-lt"/>
                <a:cs typeface="+mn-lt"/>
              </a:rPr>
              <a:t>hair </a:t>
            </a:r>
            <a:r>
              <a:rPr lang="en-US">
                <a:ea typeface="+mn-lt"/>
                <a:cs typeface="+mn-lt"/>
              </a:rPr>
              <a:t>and </a:t>
            </a:r>
            <a:r>
              <a:rPr lang="en-US" b="1">
                <a:ea typeface="+mn-lt"/>
                <a:cs typeface="+mn-lt"/>
              </a:rPr>
              <a:t>feathers</a:t>
            </a:r>
            <a:endParaRPr lang="en-US" b="1"/>
          </a:p>
          <a:p>
            <a:pPr lvl="1">
              <a:lnSpc>
                <a:spcPct val="150000"/>
              </a:lnSpc>
            </a:pPr>
            <a:r>
              <a:rPr lang="en-US">
                <a:ea typeface="+mn-lt"/>
                <a:cs typeface="+mn-lt"/>
              </a:rPr>
              <a:t>Watch for multicollinearity (high correlations &gt; 0.8)</a:t>
            </a:r>
            <a:endParaRPr lang="en-US"/>
          </a:p>
          <a:p>
            <a:pPr lvl="1">
              <a:lnSpc>
                <a:spcPct val="150000"/>
              </a:lnSpc>
            </a:pPr>
            <a:endParaRPr lang="en-US"/>
          </a:p>
        </p:txBody>
      </p:sp>
      <p:pic>
        <p:nvPicPr>
          <p:cNvPr id="4" name="Picture 3" descr="A colorful squares with red and blue text&#10;&#10;AI-generated content may be incorrect.">
            <a:extLst>
              <a:ext uri="{FF2B5EF4-FFF2-40B4-BE49-F238E27FC236}">
                <a16:creationId xmlns:a16="http://schemas.microsoft.com/office/drawing/2014/main" id="{F81B1276-CE56-63D3-65A5-C8DFF4B75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20" t="-2670" r="10559" b="-113"/>
          <a:stretch/>
        </p:blipFill>
        <p:spPr>
          <a:xfrm>
            <a:off x="5129862" y="640080"/>
            <a:ext cx="5952588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01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227224-B240-8165-B6E3-9C94FD93D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Exploratory Analysis – Relationships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5DFD3-6537-499B-2AC9-88FC14C00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/>
              <a:t>Binary Feature Distributions:</a:t>
            </a:r>
            <a:endParaRPr lang="en-US" sz="2400"/>
          </a:p>
          <a:p>
            <a:pPr lvl="1">
              <a:lnSpc>
                <a:spcPct val="150000"/>
              </a:lnSpc>
            </a:pPr>
            <a:r>
              <a:rPr lang="en-US"/>
              <a:t>Bar plots for traits like </a:t>
            </a:r>
            <a:r>
              <a:rPr lang="en-US" b="1"/>
              <a:t>hair</a:t>
            </a:r>
            <a:r>
              <a:rPr lang="en-US"/>
              <a:t>, </a:t>
            </a:r>
            <a:r>
              <a:rPr lang="en-US" b="1"/>
              <a:t>milk</a:t>
            </a:r>
            <a:r>
              <a:rPr lang="en-US"/>
              <a:t>, </a:t>
            </a:r>
            <a:r>
              <a:rPr lang="en-US" b="1"/>
              <a:t>eggs</a:t>
            </a:r>
            <a:r>
              <a:rPr lang="en-US"/>
              <a:t> across class types</a:t>
            </a:r>
          </a:p>
        </p:txBody>
      </p:sp>
      <p:pic>
        <p:nvPicPr>
          <p:cNvPr id="21" name="Graphic 20" descr="Breakfast">
            <a:extLst>
              <a:ext uri="{FF2B5EF4-FFF2-40B4-BE49-F238E27FC236}">
                <a16:creationId xmlns:a16="http://schemas.microsoft.com/office/drawing/2014/main" id="{E3D9FCFC-2EB0-FC2F-6737-D77E1012F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220347" y="1498035"/>
            <a:ext cx="4719885" cy="471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85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C78753-88BB-4141-6B43-5A741E3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Toothed vs Backbone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50B9192E-9D16-D771-18DD-5612C41311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136" r="-2" b="-2"/>
          <a:stretch/>
        </p:blipFill>
        <p:spPr>
          <a:xfrm>
            <a:off x="437845" y="2642616"/>
            <a:ext cx="5378806" cy="3605784"/>
          </a:xfrm>
          <a:prstGeom prst="rect">
            <a:avLst/>
          </a:prstGeom>
        </p:spPr>
      </p:pic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BB25927D-DEC9-A360-B472-BE9983DF2C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78" r="-2" b="-2"/>
          <a:stretch/>
        </p:blipFill>
        <p:spPr>
          <a:xfrm>
            <a:off x="6372288" y="2642616"/>
            <a:ext cx="5378831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72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C0251-A018-A237-28DD-B37FC7F6E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Domestic vs Cat Size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different types of animals&#10;&#10;AI-generated content may be incorrect.">
            <a:extLst>
              <a:ext uri="{FF2B5EF4-FFF2-40B4-BE49-F238E27FC236}">
                <a16:creationId xmlns:a16="http://schemas.microsoft.com/office/drawing/2014/main" id="{01CFCF49-892D-8979-B303-9CA84585FA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90" r="-146" b="200"/>
          <a:stretch/>
        </p:blipFill>
        <p:spPr>
          <a:xfrm>
            <a:off x="513021" y="2642616"/>
            <a:ext cx="5228454" cy="3605784"/>
          </a:xfrm>
          <a:prstGeom prst="rect">
            <a:avLst/>
          </a:prstGeom>
        </p:spPr>
      </p:pic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C785D5C-529B-FE15-BB7E-720EDA397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2595" r="-146" b="333"/>
          <a:stretch/>
        </p:blipFill>
        <p:spPr>
          <a:xfrm>
            <a:off x="6513781" y="2642616"/>
            <a:ext cx="5095846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92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8F6B74-6DD1-59F1-28A2-279B33CC2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Eggs vs Milk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24B03C44-C928-830A-0220-6FB1973F8B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30" r="-897" b="185"/>
          <a:stretch/>
        </p:blipFill>
        <p:spPr>
          <a:xfrm>
            <a:off x="509327" y="2642616"/>
            <a:ext cx="5235842" cy="3605784"/>
          </a:xfrm>
          <a:prstGeom prst="rect">
            <a:avLst/>
          </a:prstGeom>
        </p:spPr>
      </p:pic>
      <p:pic>
        <p:nvPicPr>
          <p:cNvPr id="4" name="Content Placeholder 3" descr="A graph of different types of animals&#10;&#10;AI-generated content may be incorrect.">
            <a:extLst>
              <a:ext uri="{FF2B5EF4-FFF2-40B4-BE49-F238E27FC236}">
                <a16:creationId xmlns:a16="http://schemas.microsoft.com/office/drawing/2014/main" id="{5318A374-9309-3A16-D941-4D533009C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778" r="-2" b="-2"/>
          <a:stretch/>
        </p:blipFill>
        <p:spPr>
          <a:xfrm>
            <a:off x="6372288" y="2642616"/>
            <a:ext cx="5378831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8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A00FC-6BC8-0F10-5483-BA5768351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Venomous vs Predator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with red and blue bars&#10;&#10;AI-generated content may be incorrect.">
            <a:extLst>
              <a:ext uri="{FF2B5EF4-FFF2-40B4-BE49-F238E27FC236}">
                <a16:creationId xmlns:a16="http://schemas.microsoft.com/office/drawing/2014/main" id="{9FE34B59-EE1D-BE5B-7F52-EE82D29D43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69" r="-2" b="-2"/>
          <a:stretch/>
        </p:blipFill>
        <p:spPr>
          <a:xfrm>
            <a:off x="437843" y="2642616"/>
            <a:ext cx="5378810" cy="3605784"/>
          </a:xfrm>
          <a:prstGeom prst="rect">
            <a:avLst/>
          </a:prstGeom>
        </p:spPr>
      </p:pic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9970A27-C641-F965-BCE4-C93B87A2A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1918" b="-2"/>
          <a:stretch/>
        </p:blipFill>
        <p:spPr>
          <a:xfrm>
            <a:off x="6372309" y="2642616"/>
            <a:ext cx="5378789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1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E8D4A-DC37-C5D1-DEBC-AF894A448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Hair vs Feathers 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different types of insects&#10;&#10;AI-generated content may be incorrect.">
            <a:extLst>
              <a:ext uri="{FF2B5EF4-FFF2-40B4-BE49-F238E27FC236}">
                <a16:creationId xmlns:a16="http://schemas.microsoft.com/office/drawing/2014/main" id="{1544DC26-F964-8246-8885-A824D2F89B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3" t="1531" r="11181" b="162"/>
          <a:stretch/>
        </p:blipFill>
        <p:spPr>
          <a:xfrm>
            <a:off x="764117" y="2642616"/>
            <a:ext cx="4726261" cy="3605784"/>
          </a:xfrm>
          <a:prstGeom prst="rect">
            <a:avLst/>
          </a:prstGeom>
        </p:spPr>
      </p:pic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A5402541-B0E1-AD25-4289-74FEDE53B7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80" t="4452" r="9589" b="-30"/>
          <a:stretch/>
        </p:blipFill>
        <p:spPr>
          <a:xfrm>
            <a:off x="6572046" y="2642616"/>
            <a:ext cx="4979316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90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2C16C-E5AB-E81E-9286-6ACE61C7B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Tail vs Fins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D15C9FA-9D59-69EA-34BE-1013265BB5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242" r="-2" b="-2"/>
          <a:stretch/>
        </p:blipFill>
        <p:spPr>
          <a:xfrm>
            <a:off x="437852" y="2642616"/>
            <a:ext cx="5378791" cy="3605784"/>
          </a:xfrm>
          <a:prstGeom prst="rect">
            <a:avLst/>
          </a:prstGeom>
        </p:spPr>
      </p:pic>
      <p:pic>
        <p:nvPicPr>
          <p:cNvPr id="5" name="Picture 4" descr="A graph of different types of animals&#10;&#10;AI-generated content may be incorrect.">
            <a:extLst>
              <a:ext uri="{FF2B5EF4-FFF2-40B4-BE49-F238E27FC236}">
                <a16:creationId xmlns:a16="http://schemas.microsoft.com/office/drawing/2014/main" id="{61569FE5-E116-2CD0-B229-D6E75DA34E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44" r="-2" b="-2"/>
          <a:stretch/>
        </p:blipFill>
        <p:spPr>
          <a:xfrm>
            <a:off x="6372304" y="2642616"/>
            <a:ext cx="5378800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0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38F22-063F-4AAF-A8F2-301759051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Airborne vs Aquatic vs Breathes</a:t>
            </a:r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of different types of animals&#10;&#10;AI-generated content may be incorrect.">
            <a:extLst>
              <a:ext uri="{FF2B5EF4-FFF2-40B4-BE49-F238E27FC236}">
                <a16:creationId xmlns:a16="http://schemas.microsoft.com/office/drawing/2014/main" id="{A2086B64-AE54-D74B-FBCF-046AB0318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53" y="3169412"/>
            <a:ext cx="3588851" cy="2485388"/>
          </a:xfrm>
          <a:prstGeom prst="rect">
            <a:avLst/>
          </a:prstGeom>
        </p:spPr>
      </p:pic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A567AAB-69CC-CD63-F6CA-38AC7CFA6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16908" y="3174906"/>
            <a:ext cx="3758184" cy="2489796"/>
          </a:xfrm>
          <a:prstGeom prst="rect">
            <a:avLst/>
          </a:prstGeom>
        </p:spPr>
      </p:pic>
      <p:pic>
        <p:nvPicPr>
          <p:cNvPr id="5" name="Picture 4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678A51E9-92FB-FD8A-90B1-053AFA1C1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208" y="3198395"/>
            <a:ext cx="3758184" cy="24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42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206D1-93E1-9BDF-8A0F-86DCFAACA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>
                <a:ea typeface="+mj-lt"/>
                <a:cs typeface="+mj-lt"/>
              </a:rPr>
              <a:t>Multinomial Logistic Regression Model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4C3112-03E1-CF38-6F78-8FDCD86AFF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870295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665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E88D06-95FD-1200-7A55-C41034D1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>
                <a:ea typeface="+mj-lt"/>
                <a:cs typeface="+mj-lt"/>
              </a:rPr>
              <a:t>Model Selection</a:t>
            </a:r>
            <a:endParaRPr lang="en-US" sz="4600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6508FE72-5523-DB91-5241-E87B55CC05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659165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590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A6B47-5C36-78F0-4074-8BA733E8E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-335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Model Results Overview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39F60-5061-6A84-6030-672F15D98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712852"/>
            <a:ext cx="4959603" cy="352256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>
                <a:ea typeface="+mn-lt"/>
                <a:cs typeface="+mn-lt"/>
              </a:rPr>
              <a:t>Multinomial logistic regression fitted using biologically relevant predictors</a:t>
            </a:r>
            <a:endParaRPr lang="en-US" sz="1800"/>
          </a:p>
          <a:p>
            <a:pPr>
              <a:lnSpc>
                <a:spcPct val="150000"/>
              </a:lnSpc>
            </a:pPr>
            <a:r>
              <a:rPr lang="en-US" sz="1800">
                <a:ea typeface="+mn-lt"/>
                <a:cs typeface="+mn-lt"/>
              </a:rPr>
              <a:t>Strong, logical associations between traits and animal classes:</a:t>
            </a:r>
            <a:endParaRPr lang="en-US" sz="1800"/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1800" b="1">
                <a:ea typeface="+mn-lt"/>
                <a:cs typeface="+mn-lt"/>
              </a:rPr>
              <a:t>Feathers</a:t>
            </a:r>
            <a:r>
              <a:rPr lang="en-US" sz="1800">
                <a:ea typeface="+mn-lt"/>
                <a:cs typeface="+mn-lt"/>
              </a:rPr>
              <a:t> → strongly predict classification as </a:t>
            </a:r>
            <a:r>
              <a:rPr lang="en-US" sz="1800" b="1">
                <a:ea typeface="+mn-lt"/>
                <a:cs typeface="+mn-lt"/>
              </a:rPr>
              <a:t>Bird</a:t>
            </a:r>
            <a:endParaRPr lang="en-US" sz="1800"/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1800" b="1">
                <a:ea typeface="+mn-lt"/>
                <a:cs typeface="+mn-lt"/>
              </a:rPr>
              <a:t>Milk</a:t>
            </a:r>
            <a:r>
              <a:rPr lang="en-US" sz="1800">
                <a:ea typeface="+mn-lt"/>
                <a:cs typeface="+mn-lt"/>
              </a:rPr>
              <a:t> → strongly predicts classification as </a:t>
            </a:r>
            <a:r>
              <a:rPr lang="en-US" sz="1800" b="1">
                <a:ea typeface="+mn-lt"/>
                <a:cs typeface="+mn-lt"/>
              </a:rPr>
              <a:t>Mammal</a:t>
            </a:r>
            <a:endParaRPr lang="en-US" sz="1800"/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1800" b="1">
                <a:ea typeface="+mn-lt"/>
                <a:cs typeface="+mn-lt"/>
              </a:rPr>
              <a:t>Fins</a:t>
            </a:r>
            <a:r>
              <a:rPr lang="en-US" sz="1800">
                <a:ea typeface="+mn-lt"/>
                <a:cs typeface="+mn-lt"/>
              </a:rPr>
              <a:t> → strongly predict classification as </a:t>
            </a:r>
            <a:r>
              <a:rPr lang="en-US" sz="1800" b="1">
                <a:ea typeface="+mn-lt"/>
                <a:cs typeface="+mn-lt"/>
              </a:rPr>
              <a:t>Fish</a:t>
            </a:r>
            <a:endParaRPr lang="en-US" sz="1800"/>
          </a:p>
          <a:p>
            <a:pPr>
              <a:lnSpc>
                <a:spcPct val="150000"/>
              </a:lnSpc>
            </a:pPr>
            <a:r>
              <a:rPr lang="en-US" sz="1800" b="1">
                <a:ea typeface="+mn-lt"/>
                <a:cs typeface="+mn-lt"/>
              </a:rPr>
              <a:t>Model AIC: 204.0001.</a:t>
            </a:r>
            <a:endParaRPr lang="en-US" sz="1800" b="1"/>
          </a:p>
          <a:p>
            <a:pPr marL="0" indent="0">
              <a:lnSpc>
                <a:spcPct val="150000"/>
              </a:lnSpc>
              <a:buNone/>
            </a:pPr>
            <a:endParaRPr lang="en-US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A663AF-5E02-DCF0-BA6C-3C268A07D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728017"/>
              </p:ext>
            </p:extLst>
          </p:nvPr>
        </p:nvGraphicFramePr>
        <p:xfrm>
          <a:off x="6512442" y="842482"/>
          <a:ext cx="5201025" cy="4992900"/>
        </p:xfrm>
        <a:graphic>
          <a:graphicData uri="http://schemas.openxmlformats.org/drawingml/2006/table">
            <a:tbl>
              <a:tblPr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112616">
                  <a:extLst>
                    <a:ext uri="{9D8B030D-6E8A-4147-A177-3AD203B41FA5}">
                      <a16:colId xmlns:a16="http://schemas.microsoft.com/office/drawing/2014/main" val="1407807601"/>
                    </a:ext>
                  </a:extLst>
                </a:gridCol>
                <a:gridCol w="1939370">
                  <a:extLst>
                    <a:ext uri="{9D8B030D-6E8A-4147-A177-3AD203B41FA5}">
                      <a16:colId xmlns:a16="http://schemas.microsoft.com/office/drawing/2014/main" val="2213969901"/>
                    </a:ext>
                  </a:extLst>
                </a:gridCol>
                <a:gridCol w="2149039">
                  <a:extLst>
                    <a:ext uri="{9D8B030D-6E8A-4147-A177-3AD203B41FA5}">
                      <a16:colId xmlns:a16="http://schemas.microsoft.com/office/drawing/2014/main" val="3079422676"/>
                    </a:ext>
                  </a:extLst>
                </a:gridCol>
              </a:tblGrid>
              <a:tr h="793214"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Predictor</a:t>
                      </a:r>
                      <a:endParaRPr lang="en-US" sz="1300" b="1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Strongest Associated Class</a:t>
                      </a:r>
                      <a:endParaRPr lang="en-US" sz="1300" b="1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Interpretation</a:t>
                      </a:r>
                      <a:endParaRPr lang="en-US" sz="1300" b="1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094476"/>
                  </a:ext>
                </a:extLst>
              </a:tr>
              <a:tr h="793214"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Feathers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Bird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Increases odds of being a bird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61112"/>
                  </a:ext>
                </a:extLst>
              </a:tr>
              <a:tr h="793214"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Milk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Mammal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Increases odds of being a mammal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360269"/>
                  </a:ext>
                </a:extLst>
              </a:tr>
              <a:tr h="793214"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Fins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Fish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Increases odds of being a fish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589516"/>
                  </a:ext>
                </a:extLst>
              </a:tr>
              <a:tr h="793214"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Breathes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Mammal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Trait common among mammals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544774"/>
                  </a:ext>
                </a:extLst>
              </a:tr>
              <a:tr h="793214"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Venomous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Reptile/Bug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550"/>
                        </a:lnSpc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Increases odds of being a reptile or bug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1638" marR="80979" marT="85875" marB="858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78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27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0EE0C-E58C-F769-1456-218BDF24C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93" y="351391"/>
            <a:ext cx="3455821" cy="824203"/>
          </a:xfrm>
        </p:spPr>
        <p:txBody>
          <a:bodyPr anchor="b">
            <a:normAutofit/>
          </a:bodyPr>
          <a:lstStyle/>
          <a:p>
            <a:r>
              <a:rPr lang="en-US" sz="3200"/>
              <a:t>Log-Odds Bar Plot</a:t>
            </a:r>
          </a:p>
        </p:txBody>
      </p:sp>
      <p:sp>
        <p:nvSpPr>
          <p:cNvPr id="56" name="Content Placeholder 7">
            <a:extLst>
              <a:ext uri="{FF2B5EF4-FFF2-40B4-BE49-F238E27FC236}">
                <a16:creationId xmlns:a16="http://schemas.microsoft.com/office/drawing/2014/main" id="{E8E4186E-B8C6-5C21-405B-583698DD2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693" y="1333476"/>
            <a:ext cx="4283821" cy="485783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500"/>
              <a:t>Log-odds coefficients visualized across animal  classes</a:t>
            </a:r>
          </a:p>
          <a:p>
            <a:r>
              <a:rPr lang="en-US" sz="1500"/>
              <a:t>Each color represents a different class: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/>
              <a:t>Mammals (red) indicate: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500" b="1"/>
              <a:t>Positive </a:t>
            </a:r>
            <a:r>
              <a:rPr lang="en-US" sz="1500"/>
              <a:t>association with: </a:t>
            </a:r>
          </a:p>
          <a:p>
            <a:pPr lvl="3"/>
            <a:r>
              <a:rPr lang="en-US" sz="1500"/>
              <a:t>Milk</a:t>
            </a:r>
          </a:p>
          <a:p>
            <a:pPr lvl="3"/>
            <a:r>
              <a:rPr lang="en-US" sz="1500"/>
              <a:t>Hair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500" b="1"/>
              <a:t>Negative </a:t>
            </a:r>
            <a:r>
              <a:rPr lang="en-US" sz="1500"/>
              <a:t>association with: </a:t>
            </a:r>
          </a:p>
          <a:p>
            <a:pPr lvl="3"/>
            <a:r>
              <a:rPr lang="en-US" sz="1500"/>
              <a:t>Eggs</a:t>
            </a:r>
          </a:p>
          <a:p>
            <a:pPr lvl="3"/>
            <a:r>
              <a:rPr lang="en-US" sz="1500"/>
              <a:t>Feathers</a:t>
            </a:r>
          </a:p>
          <a:p>
            <a:pPr lvl="3"/>
            <a:r>
              <a:rPr lang="en-US" sz="1500"/>
              <a:t>Fins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500"/>
              <a:t>Birds (yellow) show: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500" b="1"/>
              <a:t>Strong positive </a:t>
            </a:r>
            <a:r>
              <a:rPr lang="en-US" sz="1500"/>
              <a:t>association with:</a:t>
            </a:r>
          </a:p>
          <a:p>
            <a:pPr lvl="3">
              <a:buFont typeface="Wingdings,Sans-Serif" panose="020B0604020202020204" pitchFamily="34" charset="0"/>
              <a:buChar char="§"/>
            </a:pPr>
            <a:r>
              <a:rPr lang="en-US" sz="1500"/>
              <a:t>Feathers 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500" b="1"/>
              <a:t>Positive </a:t>
            </a:r>
            <a:r>
              <a:rPr lang="en-US" sz="1500"/>
              <a:t>association with:</a:t>
            </a:r>
          </a:p>
          <a:p>
            <a:pPr lvl="3">
              <a:buFont typeface="Wingdings,Sans-Serif" panose="020B0604020202020204" pitchFamily="34" charset="0"/>
              <a:buChar char="§"/>
            </a:pPr>
            <a:r>
              <a:rPr lang="en-US" sz="1500"/>
              <a:t>Eggs</a:t>
            </a:r>
          </a:p>
          <a:p>
            <a:pPr lvl="3">
              <a:buFont typeface="Wingdings,Sans-Serif" panose="020B0604020202020204" pitchFamily="34" charset="0"/>
              <a:buChar char="§"/>
            </a:pPr>
            <a:r>
              <a:rPr lang="en-US" sz="1500"/>
              <a:t>Being airborne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500" b="1"/>
              <a:t>Strong negative </a:t>
            </a:r>
            <a:r>
              <a:rPr lang="en-US" sz="1500"/>
              <a:t>association with</a:t>
            </a:r>
          </a:p>
          <a:p>
            <a:pPr lvl="3">
              <a:buFont typeface="Wingdings,Sans-Serif" panose="020B0604020202020204" pitchFamily="34" charset="0"/>
              <a:buChar char="§"/>
            </a:pPr>
            <a:r>
              <a:rPr lang="en-US" sz="1500"/>
              <a:t>Milk</a:t>
            </a:r>
          </a:p>
          <a:p>
            <a:pPr lvl="3">
              <a:buFont typeface="Wingdings,Sans-Serif" panose="020B0604020202020204" pitchFamily="34" charset="0"/>
              <a:buChar char="§"/>
            </a:pPr>
            <a:r>
              <a:rPr lang="en-US" sz="1500"/>
              <a:t>Teeth </a:t>
            </a:r>
          </a:p>
          <a:p>
            <a:pPr lvl="1">
              <a:buFont typeface="Courier New,monospace" panose="020B0604020202020204" pitchFamily="34" charset="0"/>
              <a:buChar char="o"/>
            </a:pPr>
            <a:endParaRPr lang="en-US" sz="1500"/>
          </a:p>
          <a:p>
            <a:pPr lvl="3"/>
            <a:endParaRPr lang="en-US" sz="1500"/>
          </a:p>
          <a:p>
            <a:pPr lvl="3"/>
            <a:endParaRPr lang="en-US" sz="1500"/>
          </a:p>
          <a:p>
            <a:pPr lvl="3"/>
            <a:endParaRPr lang="en-US" sz="1500"/>
          </a:p>
          <a:p>
            <a:pPr marL="1371600" lvl="3" indent="0">
              <a:buNone/>
            </a:pPr>
            <a:r>
              <a:rPr lang="en-US" sz="1500"/>
              <a:t>  </a:t>
            </a:r>
          </a:p>
          <a:p>
            <a:pPr lvl="3"/>
            <a:endParaRPr lang="en-US" sz="1500"/>
          </a:p>
          <a:p>
            <a:pPr lvl="3"/>
            <a:endParaRPr lang="en-US" sz="1500"/>
          </a:p>
          <a:p>
            <a:pPr lvl="2">
              <a:buFont typeface="Wingdings" panose="020B0604020202020204" pitchFamily="34" charset="0"/>
              <a:buChar char="§"/>
            </a:pPr>
            <a:endParaRPr lang="en-US" sz="1500"/>
          </a:p>
          <a:p>
            <a:pPr lvl="2">
              <a:buFont typeface="Wingdings" panose="020B0604020202020204" pitchFamily="34" charset="0"/>
              <a:buChar char="§"/>
            </a:pPr>
            <a:endParaRPr lang="en-US" sz="1500"/>
          </a:p>
        </p:txBody>
      </p:sp>
      <p:pic>
        <p:nvPicPr>
          <p:cNvPr id="4" name="Content Placeholder 3" descr="A screen shot of a graph&#10;&#10;AI-generated content may be incorrect.">
            <a:extLst>
              <a:ext uri="{FF2B5EF4-FFF2-40B4-BE49-F238E27FC236}">
                <a16:creationId xmlns:a16="http://schemas.microsoft.com/office/drawing/2014/main" id="{B217865D-5526-47F0-4A23-3C240F862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57" y="1175082"/>
            <a:ext cx="7525018" cy="451501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183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F085B-DA3D-2064-8BD0-BF6610CDC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Log-Odds Bar Plot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1DECD-D7E2-78E7-F776-FAFC9FB03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0401" y="256391"/>
            <a:ext cx="3427283" cy="436384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lvl="1"/>
            <a:endParaRPr lang="en-US" sz="1600"/>
          </a:p>
          <a:p>
            <a:pPr lvl="1"/>
            <a:r>
              <a:rPr lang="en-US" sz="1600"/>
              <a:t>Fish (green) are defined by:</a:t>
            </a:r>
          </a:p>
          <a:p>
            <a:pPr lvl="2"/>
            <a:r>
              <a:rPr lang="en-US" sz="1600" b="1"/>
              <a:t>Strong positive</a:t>
            </a:r>
            <a:r>
              <a:rPr lang="en-US" sz="1600"/>
              <a:t> association with:</a:t>
            </a:r>
          </a:p>
          <a:p>
            <a:pPr lvl="3"/>
            <a:r>
              <a:rPr lang="en-US" sz="1600"/>
              <a:t>Fins</a:t>
            </a:r>
          </a:p>
          <a:p>
            <a:pPr lvl="3"/>
            <a:r>
              <a:rPr lang="en-US" sz="1600"/>
              <a:t>Aquatic features</a:t>
            </a:r>
          </a:p>
          <a:p>
            <a:pPr lvl="2"/>
            <a:r>
              <a:rPr lang="en-US" sz="1600" b="1"/>
              <a:t>Positive </a:t>
            </a:r>
            <a:r>
              <a:rPr lang="en-US" sz="1600"/>
              <a:t>association with:</a:t>
            </a:r>
          </a:p>
          <a:p>
            <a:pPr lvl="3"/>
            <a:r>
              <a:rPr lang="en-US" sz="1600"/>
              <a:t>Eggs</a:t>
            </a:r>
          </a:p>
          <a:p>
            <a:pPr lvl="2"/>
            <a:r>
              <a:rPr lang="en-US" sz="1600" b="1"/>
              <a:t>Negative </a:t>
            </a:r>
            <a:r>
              <a:rPr lang="en-US" sz="1600"/>
              <a:t>association with:</a:t>
            </a:r>
          </a:p>
          <a:p>
            <a:pPr lvl="3"/>
            <a:r>
              <a:rPr lang="en-US" sz="1600"/>
              <a:t>Limbs</a:t>
            </a:r>
          </a:p>
          <a:p>
            <a:pPr lvl="3"/>
            <a:r>
              <a:rPr lang="en-US" sz="1600"/>
              <a:t>Milk</a:t>
            </a:r>
          </a:p>
          <a:p>
            <a:pPr lvl="3"/>
            <a:r>
              <a:rPr lang="en-US" sz="1600"/>
              <a:t>Airborne Features</a:t>
            </a:r>
          </a:p>
          <a:p>
            <a:pPr lvl="1"/>
            <a:r>
              <a:rPr lang="en-US" sz="1600"/>
              <a:t>Amphibians (teal) show:</a:t>
            </a:r>
          </a:p>
          <a:p>
            <a:pPr lvl="2"/>
            <a:r>
              <a:rPr lang="en-US" sz="1600" b="1"/>
              <a:t>Positive </a:t>
            </a:r>
            <a:r>
              <a:rPr lang="en-US" sz="1600"/>
              <a:t>association with:</a:t>
            </a:r>
          </a:p>
          <a:p>
            <a:pPr lvl="3"/>
            <a:r>
              <a:rPr lang="en-US" sz="1600"/>
              <a:t>Aquatic features</a:t>
            </a:r>
          </a:p>
          <a:p>
            <a:pPr lvl="3"/>
            <a:r>
              <a:rPr lang="en-US" sz="1600"/>
              <a:t>Breathing features</a:t>
            </a:r>
          </a:p>
          <a:p>
            <a:pPr lvl="2"/>
            <a:r>
              <a:rPr lang="en-US" sz="1600" b="1"/>
              <a:t>Moderate </a:t>
            </a:r>
            <a:r>
              <a:rPr lang="en-US" sz="1600"/>
              <a:t>association with:</a:t>
            </a:r>
          </a:p>
          <a:p>
            <a:pPr lvl="3"/>
            <a:r>
              <a:rPr lang="en-US" sz="1600"/>
              <a:t>Eggs</a:t>
            </a:r>
          </a:p>
          <a:p>
            <a:pPr lvl="2"/>
            <a:r>
              <a:rPr lang="en-US" sz="1600" b="1"/>
              <a:t>Some </a:t>
            </a:r>
            <a:r>
              <a:rPr lang="en-US" sz="1600"/>
              <a:t>association with:</a:t>
            </a:r>
          </a:p>
          <a:p>
            <a:pPr lvl="3"/>
            <a:r>
              <a:rPr lang="en-US" sz="1600"/>
              <a:t>Toothed features</a:t>
            </a:r>
          </a:p>
          <a:p>
            <a:pPr lvl="3"/>
            <a:endParaRPr lang="en-US" sz="1600"/>
          </a:p>
          <a:p>
            <a:pPr lvl="2"/>
            <a:endParaRPr lang="en-US" sz="1600"/>
          </a:p>
          <a:p>
            <a:pPr lvl="3"/>
            <a:endParaRPr lang="en-US" sz="1600"/>
          </a:p>
          <a:p>
            <a:pPr lvl="3"/>
            <a:endParaRPr lang="en-US" sz="1600"/>
          </a:p>
          <a:p>
            <a:pPr lvl="1"/>
            <a:endParaRPr lang="en-US" sz="1600"/>
          </a:p>
          <a:p>
            <a:pPr lvl="3"/>
            <a:endParaRPr lang="en-US" sz="1600"/>
          </a:p>
          <a:p>
            <a:pPr lvl="3"/>
            <a:endParaRPr lang="en-US" sz="1600"/>
          </a:p>
          <a:p>
            <a:pPr lvl="3"/>
            <a:endParaRPr lang="en-US" sz="1600"/>
          </a:p>
          <a:p>
            <a:pPr lvl="3"/>
            <a:endParaRPr lang="en-US" sz="1600"/>
          </a:p>
          <a:p>
            <a:pPr lvl="3"/>
            <a:endParaRPr lang="en-US" sz="1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9D10F8B-5FD6-F61B-A78F-A93744F2F883}"/>
              </a:ext>
            </a:extLst>
          </p:cNvPr>
          <p:cNvSpPr txBox="1"/>
          <p:nvPr/>
        </p:nvSpPr>
        <p:spPr>
          <a:xfrm>
            <a:off x="8356565" y="446105"/>
            <a:ext cx="3197701" cy="436384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Invertebrates (blue) demonstrate:​</a:t>
            </a:r>
          </a:p>
          <a:p>
            <a:pPr marL="68580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Strong negative</a:t>
            </a:r>
            <a:r>
              <a:rPr lang="en-US" sz="1600"/>
              <a:t> association with:​</a:t>
            </a:r>
          </a:p>
          <a:p>
            <a:pPr marL="1143000" lvl="5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Backbone​</a:t>
            </a:r>
          </a:p>
          <a:p>
            <a:pPr marL="68580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Negative </a:t>
            </a:r>
            <a:r>
              <a:rPr lang="en-US" sz="1600"/>
              <a:t>association with:​</a:t>
            </a:r>
          </a:p>
          <a:p>
            <a:pPr marL="1143000" lvl="5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Toothed features​</a:t>
            </a:r>
          </a:p>
          <a:p>
            <a:pPr marL="68580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Often have more legs than other classes​</a:t>
            </a: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Reptiles (purple) illustrate:​</a:t>
            </a:r>
          </a:p>
          <a:p>
            <a:pPr marL="68580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Positive </a:t>
            </a:r>
            <a:r>
              <a:rPr lang="en-US" sz="1600"/>
              <a:t>association with:​</a:t>
            </a:r>
          </a:p>
          <a:p>
            <a:pPr marL="1143000" lvl="5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Backbone​</a:t>
            </a:r>
          </a:p>
          <a:p>
            <a:pPr marL="1143000" lvl="5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Eggs​</a:t>
            </a:r>
          </a:p>
          <a:p>
            <a:pPr marL="1143000" lvl="5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Venomous features​</a:t>
            </a:r>
          </a:p>
          <a:p>
            <a:pPr marL="68580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Moderate </a:t>
            </a:r>
            <a:r>
              <a:rPr lang="en-US" sz="1600"/>
              <a:t>association with:​</a:t>
            </a:r>
          </a:p>
          <a:p>
            <a:pPr marL="1143000" lvl="5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Toothed features​</a:t>
            </a:r>
          </a:p>
          <a:p>
            <a:pPr marL="68580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Negative </a:t>
            </a:r>
            <a:r>
              <a:rPr lang="en-US" sz="1600"/>
              <a:t>association with​</a:t>
            </a:r>
          </a:p>
          <a:p>
            <a:pPr marL="1143000" lvl="5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Milk​</a:t>
            </a:r>
          </a:p>
          <a:p>
            <a:pPr marL="1143000" lvl="5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Feathers</a:t>
            </a:r>
          </a:p>
        </p:txBody>
      </p:sp>
    </p:spTree>
    <p:extLst>
      <p:ext uri="{BB962C8B-B14F-4D97-AF65-F5344CB8AC3E}">
        <p14:creationId xmlns:p14="http://schemas.microsoft.com/office/powerpoint/2010/main" val="105299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92D5-3931-6341-D420-87688B44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51" y="714621"/>
            <a:ext cx="3445167" cy="39014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 Odds Facet Plot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24D2B1C-5143-6DB1-BC02-6C495211EA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50" y="0"/>
            <a:ext cx="7472781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90BAE0F-880D-BBCD-5FFF-834D03DB0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612" t="-12248" r="-112" b="168"/>
          <a:stretch/>
        </p:blipFill>
        <p:spPr>
          <a:xfrm>
            <a:off x="-1271" y="673912"/>
            <a:ext cx="7478180" cy="5512670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3193FD5-6A49-7562-EA76-F15D42E15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5181888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E1CCEC6-3679-7265-C553-3C4D705E1A9F}"/>
              </a:ext>
            </a:extLst>
          </p:cNvPr>
          <p:cNvSpPr txBox="1"/>
          <p:nvPr/>
        </p:nvSpPr>
        <p:spPr>
          <a:xfrm>
            <a:off x="7805351" y="1750540"/>
            <a:ext cx="409832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This visualization shows the same information as in the Log-Odds Bar Plot, but: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Organized into separate panels for each class, allowing:</a:t>
            </a:r>
          </a:p>
          <a:p>
            <a:pPr marL="1200150" lvl="2" indent="-285750">
              <a:buFont typeface="Wingdings"/>
              <a:buChar char="§"/>
            </a:pPr>
            <a:r>
              <a:rPr lang="en-US"/>
              <a:t>Clearer comparison of feature significance within each class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68D827-C3BC-7697-3331-632059CA34F7}"/>
              </a:ext>
            </a:extLst>
          </p:cNvPr>
          <p:cNvSpPr txBox="1"/>
          <p:nvPr/>
        </p:nvSpPr>
        <p:spPr>
          <a:xfrm>
            <a:off x="7766875" y="4054364"/>
            <a:ext cx="4173223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/>
              <a:t>Amphibians: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Strong negative coefficients for:</a:t>
            </a:r>
          </a:p>
          <a:p>
            <a:pPr marL="1200150" lvl="2" indent="-285750">
              <a:buFont typeface="Wingdings"/>
              <a:buChar char="§"/>
            </a:pPr>
            <a:r>
              <a:rPr lang="en-US"/>
              <a:t>Hair </a:t>
            </a:r>
          </a:p>
          <a:p>
            <a:pPr marL="1200150" lvl="2" indent="-285750">
              <a:buFont typeface="Wingdings"/>
              <a:buChar char="§"/>
            </a:pPr>
            <a:r>
              <a:rPr lang="en-US"/>
              <a:t>Feathers</a:t>
            </a:r>
          </a:p>
          <a:p>
            <a:pPr marL="1200150" lvl="2" indent="-285750">
              <a:buFont typeface="Wingdings"/>
              <a:buChar char="§"/>
            </a:pPr>
            <a:r>
              <a:rPr lang="en-US"/>
              <a:t>Milk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/>
              <a:t>Positive for:</a:t>
            </a:r>
          </a:p>
          <a:p>
            <a:pPr marL="1200150" lvl="2" indent="-285750">
              <a:buFont typeface="Wingdings"/>
              <a:buChar char="§"/>
            </a:pPr>
            <a:r>
              <a:rPr lang="en-US"/>
              <a:t>Aquatic </a:t>
            </a:r>
          </a:p>
          <a:p>
            <a:pPr marL="1200150" lvl="2" indent="-285750">
              <a:buFont typeface="Wingdings"/>
              <a:buChar char="§"/>
            </a:pPr>
            <a:r>
              <a:rPr lang="en-US"/>
              <a:t>Predator</a:t>
            </a:r>
          </a:p>
          <a:p>
            <a:pPr lvl="2"/>
            <a:endParaRPr lang="en-US"/>
          </a:p>
          <a:p>
            <a:pPr marL="1200150" lvl="2" indent="-285750">
              <a:buFont typeface="Wingdings"/>
              <a:buChar char="§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8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38A62-A3B0-46B7-F31C-F4CEA9423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200" y="-96875"/>
            <a:ext cx="10515600" cy="1325563"/>
          </a:xfrm>
        </p:spPr>
        <p:txBody>
          <a:bodyPr/>
          <a:lstStyle/>
          <a:p>
            <a:r>
              <a:rPr lang="en-US"/>
              <a:t>Log-Odds Facet Plot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5686A-816E-51EB-026B-5619B4677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00" y="1069625"/>
            <a:ext cx="10485600" cy="1999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100" b="1"/>
              <a:t>Birds</a:t>
            </a:r>
            <a:endParaRPr lang="en-US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2100"/>
              <a:t>Very high positive coefficient for:</a:t>
            </a:r>
          </a:p>
          <a:p>
            <a:pPr lvl="2">
              <a:lnSpc>
                <a:spcPct val="100000"/>
              </a:lnSpc>
              <a:buFont typeface="Wingdings" panose="020B0604020202020204" pitchFamily="34" charset="0"/>
              <a:buChar char="§"/>
            </a:pPr>
            <a:r>
              <a:rPr lang="en-US" sz="2100"/>
              <a:t>Feathers</a:t>
            </a:r>
          </a:p>
          <a:p>
            <a:pPr lvl="1">
              <a:lnSpc>
                <a:spcPct val="100000"/>
              </a:lnSpc>
              <a:buFont typeface="Courier New,monospace" panose="020B0604020202020204" pitchFamily="34" charset="0"/>
              <a:buChar char="o"/>
            </a:pPr>
            <a:r>
              <a:rPr lang="en-US" sz="2100"/>
              <a:t>Positive coefficient for:</a:t>
            </a:r>
          </a:p>
          <a:p>
            <a:pPr lvl="2">
              <a:lnSpc>
                <a:spcPct val="100000"/>
              </a:lnSpc>
              <a:buFont typeface="Wingdings" panose="020B0604020202020204" pitchFamily="34" charset="0"/>
              <a:buChar char="§"/>
            </a:pPr>
            <a:r>
              <a:rPr lang="en-US" sz="2100"/>
              <a:t>Airborne</a:t>
            </a:r>
          </a:p>
          <a:p>
            <a:pPr lvl="2">
              <a:lnSpc>
                <a:spcPct val="100000"/>
              </a:lnSpc>
              <a:buFont typeface="Wingdings" panose="020B0604020202020204" pitchFamily="34" charset="0"/>
              <a:buChar char="§"/>
            </a:pPr>
            <a:r>
              <a:rPr lang="en-US" sz="2100"/>
              <a:t>Eggs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7FEC9-B16B-D6F4-333E-06584C2A0981}"/>
              </a:ext>
            </a:extLst>
          </p:cNvPr>
          <p:cNvSpPr txBox="1"/>
          <p:nvPr/>
        </p:nvSpPr>
        <p:spPr>
          <a:xfrm>
            <a:off x="576838" y="3556580"/>
            <a:ext cx="461006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sz="2100" b="1"/>
              <a:t>Bugs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100"/>
              <a:t>High positive values for: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100"/>
              <a:t>Legs (6 legs)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100"/>
              <a:t>Airborne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2100"/>
              <a:t>Strongly negative for: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100"/>
              <a:t>Backbone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7BC34D-3685-E363-6768-BDDE8599B066}"/>
              </a:ext>
            </a:extLst>
          </p:cNvPr>
          <p:cNvSpPr txBox="1"/>
          <p:nvPr/>
        </p:nvSpPr>
        <p:spPr>
          <a:xfrm>
            <a:off x="6095612" y="979677"/>
            <a:ext cx="5197483" cy="2354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sz="2100" b="1"/>
              <a:t>Fish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100"/>
              <a:t>Strong positive coefficients for: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100"/>
              <a:t>Fins 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100"/>
              <a:t>Aquatic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2100"/>
              <a:t>Negative coefficients for: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100"/>
              <a:t>Milk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100"/>
              <a:t>Legs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23E70-58E2-8C45-5E75-899C9A333A84}"/>
              </a:ext>
            </a:extLst>
          </p:cNvPr>
          <p:cNvSpPr txBox="1"/>
          <p:nvPr/>
        </p:nvSpPr>
        <p:spPr>
          <a:xfrm>
            <a:off x="6097935" y="3340322"/>
            <a:ext cx="5374967" cy="1708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sz="2100" b="1"/>
              <a:t>Invertebrates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100"/>
              <a:t>Extremely negative coefficient for: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100"/>
              <a:t>Backbone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2100"/>
              <a:t>Positive coefficient for: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100"/>
              <a:t>Aquatic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9355FF-8291-ED6C-C0E3-F4ABAE3C0887}"/>
              </a:ext>
            </a:extLst>
          </p:cNvPr>
          <p:cNvSpPr txBox="1"/>
          <p:nvPr/>
        </p:nvSpPr>
        <p:spPr>
          <a:xfrm>
            <a:off x="6587613" y="5014451"/>
            <a:ext cx="5030838" cy="15731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7CD604-D1C0-54DC-1405-6E0A5D9CADAD}"/>
              </a:ext>
            </a:extLst>
          </p:cNvPr>
          <p:cNvSpPr txBox="1"/>
          <p:nvPr/>
        </p:nvSpPr>
        <p:spPr>
          <a:xfrm>
            <a:off x="4025160" y="4463161"/>
            <a:ext cx="387012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sz="2100" b="1"/>
              <a:t>Reptiles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100"/>
              <a:t>Strong positive coefficients for: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100"/>
              <a:t>Backbone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100"/>
              <a:t>Eggs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2100"/>
              <a:t>Negative coefficients for:</a:t>
            </a:r>
          </a:p>
          <a:p>
            <a:pPr marL="1200150" lvl="2" indent="-285750">
              <a:buFont typeface="Wingdings"/>
              <a:buChar char="§"/>
            </a:pPr>
            <a:r>
              <a:rPr lang="en-US" sz="2100"/>
              <a:t>Milk </a:t>
            </a:r>
          </a:p>
          <a:p>
            <a:pPr marL="1200150" lvl="2" indent="-285750">
              <a:buFont typeface="Wingdings"/>
              <a:buChar char="§"/>
            </a:pP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4177743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DF9B3-98D6-B6C5-507E-33F20390D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"/>
            <a:ext cx="10515600" cy="1325563"/>
          </a:xfrm>
        </p:spPr>
        <p:txBody>
          <a:bodyPr/>
          <a:lstStyle/>
          <a:p>
            <a:r>
              <a:rPr lang="en-US"/>
              <a:t>Classification tree</a:t>
            </a:r>
          </a:p>
        </p:txBody>
      </p:sp>
      <p:pic>
        <p:nvPicPr>
          <p:cNvPr id="4" name="Content Placeholder 3" descr="A diagram of a tree&#10;&#10;AI-generated content may be incorrect.">
            <a:extLst>
              <a:ext uri="{FF2B5EF4-FFF2-40B4-BE49-F238E27FC236}">
                <a16:creationId xmlns:a16="http://schemas.microsoft.com/office/drawing/2014/main" id="{CF81C105-1242-A2B9-961E-405C03D2AE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2" y="1150768"/>
            <a:ext cx="9214467" cy="5282671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BF238C-8B46-4C6D-7705-23EE4B768605}"/>
              </a:ext>
            </a:extLst>
          </p:cNvPr>
          <p:cNvSpPr txBox="1"/>
          <p:nvPr/>
        </p:nvSpPr>
        <p:spPr>
          <a:xfrm>
            <a:off x="8390193" y="578645"/>
            <a:ext cx="355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Visualization of how animals can be categorized: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Using binary variables</a:t>
            </a:r>
          </a:p>
          <a:p>
            <a:pPr marL="285750" indent="-285750">
              <a:buFont typeface="Arial,Sans-Serif"/>
              <a:buChar char="•"/>
            </a:pPr>
            <a:r>
              <a:rPr lang="en-US"/>
              <a:t>Split on milk: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Animals producing milk (yes):</a:t>
            </a:r>
          </a:p>
          <a:p>
            <a:pPr marL="1200150" lvl="2" indent="-285750">
              <a:buFont typeface="Wingdings"/>
              <a:buChar char="§"/>
            </a:pPr>
            <a:r>
              <a:rPr lang="en-US"/>
              <a:t>Classified as </a:t>
            </a:r>
            <a:r>
              <a:rPr lang="en-US" b="1"/>
              <a:t>Mammals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0DE6B-AFFC-DE38-0061-8AB416F06FF2}"/>
              </a:ext>
            </a:extLst>
          </p:cNvPr>
          <p:cNvSpPr txBox="1"/>
          <p:nvPr/>
        </p:nvSpPr>
        <p:spPr>
          <a:xfrm>
            <a:off x="8392516" y="2887613"/>
            <a:ext cx="3539612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For non-milk producing animals (no path):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If they have feathers:</a:t>
            </a:r>
          </a:p>
          <a:p>
            <a:pPr marL="1200150" lvl="2" indent="-285750">
              <a:buFont typeface="Arial"/>
              <a:buChar char="•"/>
            </a:pPr>
            <a:r>
              <a:rPr lang="en-US"/>
              <a:t>Classified as </a:t>
            </a:r>
            <a:r>
              <a:rPr lang="en-US" b="1"/>
              <a:t>Birds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/>
              <a:t>If no feathers but have fins:</a:t>
            </a:r>
          </a:p>
          <a:p>
            <a:pPr marL="1200150" lvl="2" indent="-285750">
              <a:buFont typeface="Arial,Sans-Serif"/>
              <a:buChar char="•"/>
            </a:pPr>
            <a:r>
              <a:rPr lang="en-US"/>
              <a:t>Classified as </a:t>
            </a:r>
            <a:r>
              <a:rPr lang="en-US" b="1"/>
              <a:t>Fish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/>
              <a:t>If no fins but have a backbone:</a:t>
            </a:r>
          </a:p>
          <a:p>
            <a:pPr marL="1200150" lvl="2" indent="-285750">
              <a:buFont typeface="Arial,Sans-Serif"/>
              <a:buChar char="•"/>
            </a:pPr>
            <a:r>
              <a:rPr lang="en-US"/>
              <a:t>Classified as </a:t>
            </a:r>
            <a:r>
              <a:rPr lang="en-US" b="1"/>
              <a:t>Reptiles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/>
              <a:t>If no backbone:</a:t>
            </a:r>
          </a:p>
          <a:p>
            <a:pPr marL="1200150" lvl="2" indent="-285750">
              <a:buFont typeface="Arial,Sans-Serif"/>
              <a:buChar char="•"/>
            </a:pPr>
            <a:r>
              <a:rPr lang="en-US"/>
              <a:t>Classified as </a:t>
            </a:r>
            <a:r>
              <a:rPr lang="en-US" b="1"/>
              <a:t>Invertebrates</a:t>
            </a:r>
          </a:p>
        </p:txBody>
      </p:sp>
    </p:spTree>
    <p:extLst>
      <p:ext uri="{BB962C8B-B14F-4D97-AF65-F5344CB8AC3E}">
        <p14:creationId xmlns:p14="http://schemas.microsoft.com/office/powerpoint/2010/main" val="4260831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F535A-B246-799F-CA18-35B049668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344" y="-121927"/>
            <a:ext cx="10515600" cy="132556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Significance of Predictors for Bird Classification</a:t>
            </a:r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472946-F789-24EE-9005-795787C6C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0213" y="3222974"/>
            <a:ext cx="12204570" cy="1611629"/>
          </a:xfr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B4A735-D286-EFE3-CAD5-053C14CAC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" y="1206353"/>
            <a:ext cx="12192000" cy="20257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20C526-CF45-72D9-2EAF-F80D80DCF138}"/>
              </a:ext>
            </a:extLst>
          </p:cNvPr>
          <p:cNvSpPr txBox="1"/>
          <p:nvPr/>
        </p:nvSpPr>
        <p:spPr>
          <a:xfrm>
            <a:off x="802" y="4862640"/>
            <a:ext cx="5277455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Some SEs are huge (e.g., 1.518812e+04), often a sign of: Separation issues, where some traits perfectly predict a class, Sparse data, or Multicollinearity.</a:t>
            </a:r>
            <a:endParaRPr lang="en-US" sz="1600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A9CF47-736E-5B36-F1A4-4BE1DC7976D3}"/>
              </a:ext>
            </a:extLst>
          </p:cNvPr>
          <p:cNvSpPr txBox="1"/>
          <p:nvPr/>
        </p:nvSpPr>
        <p:spPr>
          <a:xfrm>
            <a:off x="8638" y="5571386"/>
            <a:ext cx="6431474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/>
              <a:t>Large absolute z-values imply that the predictor is significantly different from 0. Example: 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 sz="1600"/>
              <a:t>venomous: z ≈ 664,216 — very large, suggests strong significance.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 sz="1600"/>
              <a:t>hair: z ≈ -150,821 — also large in magnitude.</a:t>
            </a:r>
            <a:endParaRPr lang="en-US"/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619E09-A1DB-EDFA-3AED-84BC81B9910C}"/>
              </a:ext>
            </a:extLst>
          </p:cNvPr>
          <p:cNvSpPr txBox="1"/>
          <p:nvPr/>
        </p:nvSpPr>
        <p:spPr>
          <a:xfrm>
            <a:off x="8070915" y="4826523"/>
            <a:ext cx="396082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Non-significant predictors (p &gt; 0.05) include:</a:t>
            </a:r>
          </a:p>
          <a:p>
            <a:pPr marL="228600" indent="-228600">
              <a:buFont typeface=""/>
              <a:buChar char="•"/>
            </a:pPr>
            <a:r>
              <a:rPr lang="en-US" sz="1600"/>
              <a:t>hair, milk, airborne, etc.</a:t>
            </a:r>
          </a:p>
        </p:txBody>
      </p:sp>
    </p:spTree>
    <p:extLst>
      <p:ext uri="{BB962C8B-B14F-4D97-AF65-F5344CB8AC3E}">
        <p14:creationId xmlns:p14="http://schemas.microsoft.com/office/powerpoint/2010/main" val="360052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79763-2264-146C-A14D-9E357659F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464" y="-485757"/>
            <a:ext cx="5388580" cy="1676835"/>
          </a:xfrm>
        </p:spPr>
        <p:txBody>
          <a:bodyPr anchor="b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Interpretation of Results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36462-BA7E-47D9-97A4-73E153B9D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396762"/>
            <a:ext cx="4959603" cy="487723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100" b="1">
                <a:latin typeface="Aptos Display"/>
                <a:ea typeface="+mn-lt"/>
                <a:cs typeface="+mn-lt"/>
              </a:rPr>
              <a:t>Examples:</a:t>
            </a:r>
            <a:endParaRPr lang="en-US" sz="2100" b="1">
              <a:latin typeface="Aptos Display"/>
            </a:endParaRPr>
          </a:p>
          <a:p>
            <a:r>
              <a:rPr lang="en-US" sz="2100">
                <a:latin typeface="Aptos Display"/>
                <a:ea typeface="+mn-lt"/>
                <a:cs typeface="+mn-lt"/>
              </a:rPr>
              <a:t>Traits show strong, logical associations with animal class</a:t>
            </a:r>
          </a:p>
          <a:p>
            <a:r>
              <a:rPr lang="en-US" sz="2100">
                <a:latin typeface="Aptos Display"/>
                <a:ea typeface="+mn-lt"/>
                <a:cs typeface="+mn-lt"/>
              </a:rPr>
              <a:t>Presence of </a:t>
            </a:r>
            <a:r>
              <a:rPr lang="en-US" sz="2100" b="1">
                <a:latin typeface="Aptos Display"/>
                <a:ea typeface="+mn-lt"/>
                <a:cs typeface="+mn-lt"/>
              </a:rPr>
              <a:t>feathers</a:t>
            </a:r>
            <a:r>
              <a:rPr lang="en-US" sz="2100">
                <a:latin typeface="Aptos Display"/>
                <a:ea typeface="+mn-lt"/>
                <a:cs typeface="+mn-lt"/>
              </a:rPr>
              <a:t> strongly predicts </a:t>
            </a:r>
            <a:r>
              <a:rPr lang="en-US" sz="2100" b="1">
                <a:latin typeface="Aptos Display"/>
                <a:ea typeface="+mn-lt"/>
                <a:cs typeface="+mn-lt"/>
              </a:rPr>
              <a:t>Bird </a:t>
            </a:r>
            <a:r>
              <a:rPr lang="en-US" sz="2100">
                <a:latin typeface="Aptos Display"/>
                <a:ea typeface="+mn-lt"/>
                <a:cs typeface="+mn-lt"/>
              </a:rPr>
              <a:t>class</a:t>
            </a:r>
          </a:p>
          <a:p>
            <a:r>
              <a:rPr lang="en-US" sz="2100">
                <a:latin typeface="Aptos Display"/>
                <a:ea typeface="+mn-lt"/>
                <a:cs typeface="+mn-lt"/>
              </a:rPr>
              <a:t>Presence of </a:t>
            </a:r>
            <a:r>
              <a:rPr lang="en-US" sz="2100" b="1">
                <a:latin typeface="Aptos Display"/>
                <a:ea typeface="+mn-lt"/>
                <a:cs typeface="+mn-lt"/>
              </a:rPr>
              <a:t>milk</a:t>
            </a:r>
            <a:r>
              <a:rPr lang="en-US" sz="2100">
                <a:latin typeface="Aptos Display"/>
                <a:ea typeface="+mn-lt"/>
                <a:cs typeface="+mn-lt"/>
              </a:rPr>
              <a:t> predicts </a:t>
            </a:r>
            <a:r>
              <a:rPr lang="en-US" sz="2100" b="1">
                <a:latin typeface="Aptos Display"/>
                <a:ea typeface="+mn-lt"/>
                <a:cs typeface="+mn-lt"/>
              </a:rPr>
              <a:t>Mammal </a:t>
            </a:r>
            <a:r>
              <a:rPr lang="en-US" sz="2100">
                <a:latin typeface="Aptos Display"/>
                <a:ea typeface="+mn-lt"/>
                <a:cs typeface="+mn-lt"/>
              </a:rPr>
              <a:t>class</a:t>
            </a:r>
            <a:endParaRPr lang="en-US" sz="2100">
              <a:latin typeface="Aptos Display"/>
            </a:endParaRPr>
          </a:p>
          <a:p>
            <a:r>
              <a:rPr lang="en-US" sz="2100">
                <a:latin typeface="Aptos Display"/>
                <a:ea typeface="+mn-lt"/>
                <a:cs typeface="+mn-lt"/>
              </a:rPr>
              <a:t>Presence of </a:t>
            </a:r>
            <a:r>
              <a:rPr lang="en-US" sz="2100" b="1">
                <a:latin typeface="Aptos Display"/>
                <a:ea typeface="+mn-lt"/>
                <a:cs typeface="+mn-lt"/>
              </a:rPr>
              <a:t>fins</a:t>
            </a:r>
            <a:r>
              <a:rPr lang="en-US" sz="2100">
                <a:latin typeface="Aptos Display"/>
                <a:ea typeface="+mn-lt"/>
                <a:cs typeface="+mn-lt"/>
              </a:rPr>
              <a:t> predicts </a:t>
            </a:r>
            <a:r>
              <a:rPr lang="en-US" sz="2100" b="1">
                <a:latin typeface="Aptos Display"/>
                <a:ea typeface="+mn-lt"/>
                <a:cs typeface="+mn-lt"/>
              </a:rPr>
              <a:t>Fish</a:t>
            </a:r>
            <a:r>
              <a:rPr lang="en-US" sz="2100">
                <a:latin typeface="Aptos Display"/>
                <a:ea typeface="+mn-lt"/>
                <a:cs typeface="+mn-lt"/>
              </a:rPr>
              <a:t> class</a:t>
            </a:r>
            <a:endParaRPr lang="en-US" sz="2100">
              <a:latin typeface="Aptos Display"/>
            </a:endParaRPr>
          </a:p>
          <a:p>
            <a:r>
              <a:rPr lang="en-US" sz="2100">
                <a:latin typeface="Aptos Display"/>
                <a:ea typeface="+mn-lt"/>
                <a:cs typeface="+mn-lt"/>
              </a:rPr>
              <a:t>Multinomial model successfully captures class distinctions</a:t>
            </a:r>
          </a:p>
          <a:p>
            <a:r>
              <a:rPr lang="en-US" sz="2100" b="1">
                <a:latin typeface="Aptos Display"/>
                <a:ea typeface="+mn-lt"/>
                <a:cs typeface="+mn-lt"/>
              </a:rPr>
              <a:t>Practical Meaning:</a:t>
            </a:r>
            <a:endParaRPr lang="en-US" sz="2100">
              <a:latin typeface="Aptos Display"/>
            </a:endParaRPr>
          </a:p>
          <a:p>
            <a:pPr lvl="1"/>
            <a:r>
              <a:rPr lang="en-US" sz="2100">
                <a:latin typeface="Aptos Display"/>
                <a:ea typeface="+mn-lt"/>
                <a:cs typeface="+mn-lt"/>
              </a:rPr>
              <a:t>Traits provide reliable prediction of animal classes.</a:t>
            </a:r>
            <a:endParaRPr lang="en-US" sz="2100">
              <a:latin typeface="Aptos Display"/>
            </a:endParaRPr>
          </a:p>
          <a:p>
            <a:endParaRPr lang="en-US" sz="2100">
              <a:latin typeface="Aptos Display"/>
            </a:endParaRPr>
          </a:p>
        </p:txBody>
      </p:sp>
      <p:pic>
        <p:nvPicPr>
          <p:cNvPr id="7" name="Graphic 6" descr="Peacock">
            <a:extLst>
              <a:ext uri="{FF2B5EF4-FFF2-40B4-BE49-F238E27FC236}">
                <a16:creationId xmlns:a16="http://schemas.microsoft.com/office/drawing/2014/main" id="{316E9E7C-D637-0321-63A2-240E2B118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512442" y="621610"/>
            <a:ext cx="5201023" cy="520102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6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8DAD-7038-0175-2E21-AFB5ADFA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253665"/>
            <a:ext cx="4959603" cy="948702"/>
          </a:xfrm>
        </p:spPr>
        <p:txBody>
          <a:bodyPr anchor="b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E981A-6B47-0B1A-5462-B087E66A7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453209"/>
            <a:ext cx="4959603" cy="395154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>
                <a:latin typeface="Aptos Display"/>
              </a:rPr>
              <a:t>Strong patterns align with biological expectations</a:t>
            </a:r>
          </a:p>
          <a:p>
            <a:pPr>
              <a:lnSpc>
                <a:spcPct val="150000"/>
              </a:lnSpc>
            </a:pPr>
            <a:r>
              <a:rPr lang="en-US">
                <a:latin typeface="Aptos Display"/>
              </a:rPr>
              <a:t>Class imbalance and multicollinearity addressed</a:t>
            </a:r>
          </a:p>
          <a:p>
            <a:pPr>
              <a:lnSpc>
                <a:spcPct val="150000"/>
              </a:lnSpc>
            </a:pPr>
            <a:r>
              <a:rPr lang="en-US">
                <a:latin typeface="Aptos Display"/>
              </a:rPr>
              <a:t>Dataset and model appropriate for multinomial logistic regression</a:t>
            </a:r>
          </a:p>
          <a:p>
            <a:pPr>
              <a:lnSpc>
                <a:spcPct val="150000"/>
              </a:lnSpc>
            </a:pPr>
            <a:endParaRPr lang="en-US">
              <a:latin typeface="Aptos Display"/>
            </a:endParaRPr>
          </a:p>
        </p:txBody>
      </p: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04B87223-27F9-1C40-773C-300D64527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512442" y="621610"/>
            <a:ext cx="5201023" cy="520102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0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ABAE-FD01-B83C-A1F2-6DA6E5D4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Appendix:</a:t>
            </a:r>
            <a:r>
              <a:rPr lang="en-US">
                <a:latin typeface="Aptos Display"/>
                <a:ea typeface="+mj-lt"/>
                <a:cs typeface="+mj-lt"/>
              </a:rPr>
              <a:t> List of Predictors</a:t>
            </a:r>
            <a:endParaRPr lang="en-US">
              <a:latin typeface="Aptos Display"/>
            </a:endParaRPr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C7D8498C-8912-C432-3D7B-502A8D34BD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715646"/>
          <a:ext cx="526015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3DE565-2ADC-5768-06E0-E3FFE13D45B1}"/>
              </a:ext>
            </a:extLst>
          </p:cNvPr>
          <p:cNvSpPr txBox="1">
            <a:spLocks/>
          </p:cNvSpPr>
          <p:nvPr/>
        </p:nvSpPr>
        <p:spPr>
          <a:xfrm>
            <a:off x="6096786" y="1718788"/>
            <a:ext cx="526015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>
                <a:ea typeface="+mn-lt"/>
                <a:cs typeface="+mn-lt"/>
              </a:rPr>
              <a:t>Backbone</a:t>
            </a:r>
          </a:p>
          <a:p>
            <a:pPr marL="457200" indent="-457200"/>
            <a:r>
              <a:rPr lang="en-US">
                <a:ea typeface="+mn-lt"/>
                <a:cs typeface="+mn-lt"/>
              </a:rPr>
              <a:t>Breathes</a:t>
            </a:r>
          </a:p>
          <a:p>
            <a:pPr marL="457200" indent="-457200"/>
            <a:r>
              <a:rPr lang="en-US">
                <a:ea typeface="+mn-lt"/>
                <a:cs typeface="+mn-lt"/>
              </a:rPr>
              <a:t>Venomous</a:t>
            </a:r>
          </a:p>
          <a:p>
            <a:pPr marL="457200" indent="-457200"/>
            <a:r>
              <a:rPr lang="en-US">
                <a:ea typeface="+mn-lt"/>
                <a:cs typeface="+mn-lt"/>
              </a:rPr>
              <a:t>Fins</a:t>
            </a:r>
          </a:p>
          <a:p>
            <a:pPr marL="457200" indent="-457200"/>
            <a:r>
              <a:rPr lang="en-US">
                <a:ea typeface="+mn-lt"/>
                <a:cs typeface="+mn-lt"/>
              </a:rPr>
              <a:t>Legs</a:t>
            </a:r>
          </a:p>
          <a:p>
            <a:pPr marL="457200" indent="-457200"/>
            <a:r>
              <a:rPr lang="en-US">
                <a:ea typeface="+mn-lt"/>
                <a:cs typeface="+mn-lt"/>
              </a:rPr>
              <a:t>Tail</a:t>
            </a:r>
          </a:p>
          <a:p>
            <a:pPr marL="457200" indent="-457200"/>
            <a:r>
              <a:rPr lang="en-US">
                <a:ea typeface="+mn-lt"/>
                <a:cs typeface="+mn-lt"/>
              </a:rPr>
              <a:t>Domestic</a:t>
            </a:r>
          </a:p>
          <a:p>
            <a:pPr marL="457200" indent="-457200"/>
            <a:r>
              <a:rPr lang="en-US">
                <a:ea typeface="+mn-lt"/>
                <a:cs typeface="+mn-lt"/>
              </a:rPr>
              <a:t>Cat Size</a:t>
            </a:r>
          </a:p>
          <a:p>
            <a:pPr marL="457200" indent="-457200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51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E53DB8A889C145A43AC95E22E06DDB" ma:contentTypeVersion="20" ma:contentTypeDescription="Create a new document." ma:contentTypeScope="" ma:versionID="e1e34bedc13c06aeecc2c5e1df5296fb">
  <xsd:schema xmlns:xsd="http://www.w3.org/2001/XMLSchema" xmlns:xs="http://www.w3.org/2001/XMLSchema" xmlns:p="http://schemas.microsoft.com/office/2006/metadata/properties" xmlns:ns1="http://schemas.microsoft.com/sharepoint/v3" xmlns:ns3="ee920ac9-5fc6-4484-ac21-fc1bd4a2d57a" xmlns:ns4="1c5f7d24-dc7c-45cd-a254-66c71c085d44" targetNamespace="http://schemas.microsoft.com/office/2006/metadata/properties" ma:root="true" ma:fieldsID="5caad6a05e1c22dce9e67a65b48b6011" ns1:_="" ns3:_="" ns4:_="">
    <xsd:import namespace="http://schemas.microsoft.com/sharepoint/v3"/>
    <xsd:import namespace="ee920ac9-5fc6-4484-ac21-fc1bd4a2d57a"/>
    <xsd:import namespace="1c5f7d24-dc7c-45cd-a254-66c71c085d4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1:_ip_UnifiedCompliancePolicyProperties" minOccurs="0"/>
                <xsd:element ref="ns1:_ip_UnifiedCompliancePolicyUIAction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920ac9-5fc6-4484-ac21-fc1bd4a2d57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5f7d24-dc7c-45cd-a254-66c71c085d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1c5f7d24-dc7c-45cd-a254-66c71c085d44" xsi:nil="true"/>
  </documentManagement>
</p:properties>
</file>

<file path=customXml/itemProps1.xml><?xml version="1.0" encoding="utf-8"?>
<ds:datastoreItem xmlns:ds="http://schemas.openxmlformats.org/officeDocument/2006/customXml" ds:itemID="{B6502053-8C0F-414E-8116-231EFB77CA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e920ac9-5fc6-4484-ac21-fc1bd4a2d57a"/>
    <ds:schemaRef ds:uri="1c5f7d24-dc7c-45cd-a254-66c71c085d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B0E967E-5894-4913-8B9C-F7BEAD29C3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19132C-7F2F-4173-B30C-D370106EA385}">
  <ds:schemaRefs>
    <ds:schemaRef ds:uri="http://purl.org/dc/elements/1.1/"/>
    <ds:schemaRef ds:uri="http://purl.org/dc/terms/"/>
    <ds:schemaRef ds:uri="http://schemas.microsoft.com/office/2006/metadata/properties"/>
    <ds:schemaRef ds:uri="http://schemas.microsoft.com/sharepoint/v3"/>
    <ds:schemaRef ds:uri="ee920ac9-5fc6-4484-ac21-fc1bd4a2d57a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1c5f7d24-dc7c-45cd-a254-66c71c085d44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1004</Words>
  <Application>Microsoft Office PowerPoint</Application>
  <PresentationFormat>Widescreen</PresentationFormat>
  <Paragraphs>246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Aptos</vt:lpstr>
      <vt:lpstr>Aptos Display</vt:lpstr>
      <vt:lpstr>Arial</vt:lpstr>
      <vt:lpstr>Arial,Sans-Serif</vt:lpstr>
      <vt:lpstr>Calibri</vt:lpstr>
      <vt:lpstr>Courier New</vt:lpstr>
      <vt:lpstr>Courier New,monospace</vt:lpstr>
      <vt:lpstr>Quire Sans</vt:lpstr>
      <vt:lpstr>Wingdings</vt:lpstr>
      <vt:lpstr>Wingdings,Sans-Serif</vt:lpstr>
      <vt:lpstr>office theme</vt:lpstr>
      <vt:lpstr>Predicting Animal Class Based on Physical and Behavioral Traits</vt:lpstr>
      <vt:lpstr>Purpose </vt:lpstr>
      <vt:lpstr>Data Description</vt:lpstr>
      <vt:lpstr>Exploratory Analysis – Distribution</vt:lpstr>
      <vt:lpstr>Exploratory Analysis – Distribution</vt:lpstr>
      <vt:lpstr>Exploratory Analysis – Relationships</vt:lpstr>
      <vt:lpstr>Exploratory Analysis – Relationships</vt:lpstr>
      <vt:lpstr>Toothed vs Backbone</vt:lpstr>
      <vt:lpstr>Domestic vs Cat Size</vt:lpstr>
      <vt:lpstr>Eggs vs Milk</vt:lpstr>
      <vt:lpstr>Venomous vs Predator</vt:lpstr>
      <vt:lpstr>Hair vs Feathers </vt:lpstr>
      <vt:lpstr>Tail vs Fins</vt:lpstr>
      <vt:lpstr>Airborne vs Aquatic vs Breathes</vt:lpstr>
      <vt:lpstr>Multinomial Logistic Regression Model</vt:lpstr>
      <vt:lpstr>Model Selection</vt:lpstr>
      <vt:lpstr>Model Results Overview</vt:lpstr>
      <vt:lpstr>Log-Odds Bar Plot</vt:lpstr>
      <vt:lpstr>Log-Odds Bar Plot (Continued)</vt:lpstr>
      <vt:lpstr>Log Odds Facet Plot</vt:lpstr>
      <vt:lpstr>Log-Odds Facet Plot (Continued)</vt:lpstr>
      <vt:lpstr>Classification tree</vt:lpstr>
      <vt:lpstr>Significance of Predictors for Bird Classification</vt:lpstr>
      <vt:lpstr>Interpretation of Results</vt:lpstr>
      <vt:lpstr>Key Takeaways</vt:lpstr>
      <vt:lpstr>Appendix: List of Predictors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Animal Class Based on Physical and Behavioral Traits</dc:title>
  <dc:creator>Michelle Xia</dc:creator>
  <cp:lastModifiedBy>Michelle Xia</cp:lastModifiedBy>
  <cp:revision>6</cp:revision>
  <dcterms:created xsi:type="dcterms:W3CDTF">2025-04-25T15:57:17Z</dcterms:created>
  <dcterms:modified xsi:type="dcterms:W3CDTF">2025-05-05T20:30:56Z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0x01010024E53DB8A889C145A43AC95E22E06DDB</vt:lpwstr>
  </property>
</Properties>
</file>